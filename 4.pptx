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ink/ink1.xml" ContentType="application/inkml+xml"/>
  <Override PartName="/ppt/theme/themeOverride2.xml" ContentType="application/vnd.openxmlformats-officedocument.themeOverride+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44" r:id="rId2"/>
  </p:sldMasterIdLst>
  <p:notesMasterIdLst>
    <p:notesMasterId r:id="rId13"/>
  </p:notesMasterIdLst>
  <p:sldIdLst>
    <p:sldId id="256" r:id="rId3"/>
    <p:sldId id="304" r:id="rId4"/>
    <p:sldId id="313" r:id="rId5"/>
    <p:sldId id="322" r:id="rId6"/>
    <p:sldId id="307" r:id="rId7"/>
    <p:sldId id="303" r:id="rId8"/>
    <p:sldId id="320" r:id="rId9"/>
    <p:sldId id="321" r:id="rId10"/>
    <p:sldId id="316" r:id="rId11"/>
    <p:sldId id="317" r:id="rId12"/>
  </p:sldIdLst>
  <p:sldSz cx="12192000" cy="6858000"/>
  <p:notesSz cx="9939338" cy="6807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yohei_m" initials="r" lastIdx="1" clrIdx="0">
    <p:extLst>
      <p:ext uri="{19B8F6BF-5375-455C-9EA6-DF929625EA0E}">
        <p15:presenceInfo xmlns:p15="http://schemas.microsoft.com/office/powerpoint/2012/main" userId="ryohei_m" providerId="None"/>
      </p:ext>
    </p:extLst>
  </p:cmAuthor>
  <p:cmAuthor id="2" name="関 名展" initials="関" lastIdx="2" clrIdx="1">
    <p:extLst>
      <p:ext uri="{19B8F6BF-5375-455C-9EA6-DF929625EA0E}">
        <p15:presenceInfo xmlns:p15="http://schemas.microsoft.com/office/powerpoint/2012/main" userId="関 名展"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69" autoAdjust="0"/>
    <p:restoredTop sz="77303" autoAdjust="0"/>
  </p:normalViewPr>
  <p:slideViewPr>
    <p:cSldViewPr snapToGrid="0">
      <p:cViewPr varScale="1">
        <p:scale>
          <a:sx n="120" d="100"/>
          <a:sy n="120" d="100"/>
        </p:scale>
        <p:origin x="1776"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2" d="100"/>
          <a:sy n="112" d="100"/>
        </p:scale>
        <p:origin x="2142"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commentAuthors" Target="commentAuthor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09:36:54.604"/>
    </inkml:context>
    <inkml:brush xml:id="br0">
      <inkml:brushProperty name="width" value="0.05" units="cm"/>
      <inkml:brushProperty name="height" value="0.05" units="cm"/>
      <inkml:brushProperty name="color" value="#E71224"/>
    </inkml:brush>
  </inkml:definitions>
  <inkml:trace contextRef="#ctx0" brushRef="#br0">3327 381 8191,'-42'11'0,"-37"10"0,-9 2 785,39-10 0,1 1-785,-35 8 0,1 0 2892,-7 4-2892,49-15 0,-18 3 0,-7-3 0,8-10 0,-21 6 0,-7-7 0,33-3 0,-2-1 607,-9-3 0,-2-1-607,-7 0 0,0-1 0,6-2 0,-2 1 0,-14 1 0,0 2 0,15 2 0,0 2 0,-13 1 0,1 4 0,16 3 0,3 4 0,1 4 0,2 3 0,1 5 0,3 1 0,-31 20 0,36-12 0,0 2 0,-29 24 2105,25-16 1,1 0-2106,-19 16 0,20-14 0,3-1 0,8-3 1782,-1 3 1,-2 6-1783,5 3 0,2 0 0,-18 33-213,12-19 0,4-4 213,14-20 1528,-13 27-1528,-5-15 0,17-13 0,-13 19 0,10 1 840,18-11-840,-2 4 0,3-2 255,11-12-255,0 23 735,4-51-735,-1 0 0,1-1 0,-1-1 0,1 1 0,-1-2 0,8 3 0,25 19 0,6 0 0,38 17 0,-2-7-622,-27-18 0,5 1 622,15 11 0,3 1 0,1-5 0,3 0 0,-22-6 0,3 1 0,4-1 0,6 1 0,5-1 0,2 0 0,-3-2-1599,5-1 0,-2-2 0,5 1 1599,4 2 0,7 1 0,1 0 0,-4-2 0,7-1 0,-4-3 0,1-1 0,-20-4 0,1 0 0,-2-1 0,-2 0 0,6 2 0,-3-2 0,3 1 0,11-1 0,3 0 0,-4 1 0,-17 0 0,-2 0 0,3-1 0,19 0 0,5-1 0,-5 0 0,-22-1 0,-3 1 0,3-2-694,18-1 1,4-1 0,-10-1 693,-15-3 0,0-1 0,17 3 0,10 1 0,-10-3 0,-17-4 0,0-1-274,12 2 0,9 0 0,-10-2 274,-13-3 0,0-1 0,24 0 0,12 0 0,-4 0-1108,-26 2 1,-3 1-1,2-1 1108,9-2 0,2 0 0,-3 1 0,13 3 0,-4-1 545,1-9 0,-3 0-545,-20 8 0,2 0 309,23-9 1,0 0-310,-29 11 0,2 0 0,3-3 0,6-1 0,-3 2 0,12 4 0,0 0 0,-7-4 0,4-3 0,-4 3 0,2 5 0,0 0 0,-5-3 0,5-2 0,10 2-469,-10 2 0,10 2 0,6-1 0,1 2 0,-4-1 0,-7 0 469,1-1 0,-7 1 0,0-1 0,9 2 0,6 2 0,13 0 0,5 1 0,-3 0 0,-10 1 0,-16 1 1148,11 2 1,-7 3-1149,-9-2 0,8 2 0,2-1 0,-5-1 0,4-2 0,-3-2 0,0 1 0,-1 2 0,1 0 0,2-1-251,12-2 1,4-3 0,-5 0 250,-17 1 0,-3-1 0,1 0 0,-1-2 0,0 0 0,3 0-183,17 2 0,4 0 0,-9 1 183,-13 1 0,0 1 0,14 0 0,11 0 0,-4 1 0,-19-1 0,-3 1 0,0-1 0,2 0 0,0 0 0,2 1 0,16 1 0,2 2 0,-8-1 0,-9 0 0,0 1 0,11-1 0,9 1 0,0-2 0,-2-3 0,0-2 0,1 0 286,-19 1 0,2-1 0,-1 0 1,-2-1-287,15 0 0,-2-1 0,-1-1 0,0-3 0,0-1 0,-11-1 239,-18 3 1,-1-4-240,10-7 0,5-5 0,-10 1 0,19-13 1353,-27 7 1,-6-1-1354,-10-3 2108,-13 14-2108,-6 1 4514,-5 6-4514,1 3 1421,21 1-1421,-4-2 0,23 4 0,-6-4 0,5-1 0,-5 5 0,2 1-1199,28-7 0,3 1 1199,-6 4 0,0 2 0,11-4 0,-1 1 0,-16 6 0,2 0 0,-8 0 0,5-1 0,-3 2 0,24 7 0,-1 1 0,3 0 0,5 0 0,-13-2 0,5 1 0,-10 1-1590,-11 2 1,0 1 1589,20-1 0,10-1 0,-9 1 0,-17 2 0,2 0 0,-5-4 0,10 0 0,1 0 0,-9 0 0,12 4 0,0 1 0,-10-5 0,8 0 0,1 1 0,-10-2 0,10 3 0,0-2 0,-14-3 0,7-1 0,1 0 0,-4-2 0,5-1 0,-4-3 0,1 0 0,1 1 0,1 0 0,2-2 0,11 0 0,3-1 0,-2-1 0,-4 0 0,-1 0 0,1-3-1048,-2-2 0,1-2 0,0 0 1048,9 0 0,1-1 0,-5 0 0,-15-2 0,-4 0 0,-3 1-553,17 0 1,1 4 552,-9 2 0,5 2 0,-8 1 0,-7 1 0,0 0 0,9-1 0,8 0 0,0-5 0,0-8 0,-1-5 0,-4 1-152,11 2 0,-2-3 152,-20-4 0,1-3 0,-14-2 0,6-25 2208,-21 12-2208,-8-3 3357,-28 25-3357,-11-4 1651,-9-4-1651,-8 5 0,-16-11 0,-7-2 0,-21-8 1183,4 4 1,-1-1-1184,-17-14 0,-1 6 0,37 15 0,-13-1 0,13 1 0,1 2 0,-3-5 0,-5-4 0,1-2-342,9 8 1,0-2 341,-13-15 0,6 4 0,16 16 0,-6-9 0,0 2 0,16 14 0,-16-15 0,-1-2 0,4-3 0,-7-5 0,-11-8 0,1 9 0,-5-2 0,-1 2-1021,5 3 1,-1 2 0,-3-1 1020,-19-12 0,-5-2 0,2 6 0,16 15 0,1 3 0,-1 3 0,-3 0 0,-1 1 0,4 3 0,-11-6 0,0 3 0,8 5 0,-5-1 0,1 3 0,-17-6 0,-6 1 0,15 4 0,-7-2 0,-4-1 0,3 1 0,3 2 0,2 0 0,-2 0 0,-2 1-651,6 1 1,-3 0-1,0 0 1,1 1 0,6 2 650,-17-6 0,5 3 0,-2 1 0,11 4 0,-3 0 0,1 1 0,4 3 0,-4 2 0,5 4 0,-4-1 0,-17-4 0,-3 1 0,-1 2 0,3 5 0,1 1 0,5 1 0,-11-2 0,1 1 0,11 2 0,-4 1 0,9 1-1008,12-1 1,0 0 1007,-14-1 0,-9 1 0,9 1 0,14 2 0,0 0 0,-11 0 0,-9-1 0,10 2 0,15 3 0,0 1 0,-11 0 0,-8-1 0,9 1 0,15 0 0,1 1 0,-18 1 0,-10 1 0,10-2 0,16-3 0,-2-2 0,-10 3 0,-15 1 0,0 0 0,11-2 0,-1-1 0,-1 0 0,1 2 0,-12 1 0,0 1 0,12-2 0,-4-2 0,5 0 0,11 2 0,-3 1 0,-2-2 0,-6-4 0,0-2 0,2 0 0,-8 4 0,-4-2 0,13-2 0,-8-2 0,-1-1 0,9 1 0,-16 1 0,1 0 0,-5-3 0,-8-2 0,10 1 0,14 4 0,0 1 0,8-2 0,-9 0 0,-1 0 0,8 0 0,-25-1 0,3-1 0,20 3 0,-2-1 0,-3-3 0,-14-6 0,-4-3 0,5 0 0,21 5 0,3 0 0,-3-1 0,-18-3 0,-3-2 0,4 3-570,20 3 1,4 1 0,0 2 569,-8 0 0,0 1 0,3 0 0,-7 1 0,0 0 503,6-1 1,-5 0 0,-1 1-504,-1 0 0,-1 2 0,3-2 0,-12-3 0,-7-1-100,25 3 0,-12 1 0,-7-1 1,-2 0-1,3 0 0,7 0 100,-4-2 0,6 0 0,-1 1 0,-6-1-346,4 3 0,-8-1 0,-3 2 0,1-1 0,4 0 0,8 1 346,-22-3 0,10 0 0,-3 3 0,16 3 0,-2 2 0,1 1 0,3-1-175,-3 1 1,4 0 0,-3 0 174,-17 3 0,-3-1 0,-3 1 0,16-1 0,-1-1 0,-1 0 0,3 0 0,-13 0 0,2-2 0,1 1 0,4 0 0,1 0 0,1-1 0,5-2 0,1 0 0,4 0 0,-21 0 0,3 0 0,-1 0 0,-1 0 0,24 0 0,-1-1 0,5 2-189,3 2 0,2 1 189,-9-4 0,0 1 1020,15 3 1,7-1-1021,-12-3 0,-8 0 0,45 0 4502,-20-5-4502,14-5 4283,-8-2-4283,-17-4 0,-4-2 0,-17 5 0,-8 3-16,25 1 0,0 2 16,-20-1 0,0 2 0,14 4 0,4 4 0,8 4 0,2 1 0,0-3 0,-1 1 0,-21 9 0,3 1 0,-6-1 0,-1 1 0,1-1 0,-1 1 0,3-1 0,-2 1 0,26-4 0,3 0 0,-8 0 0,0 0 0,0 3 0,0 0 0,4 0 0,3 1 0,-35 12-154,22-6 1,-2 1 153,10-6 0,2 0 0,6 1 0,0 0 0,-4-4 0,4-1 0,-1 4 0,6-5 0,9-4 0,16-3 0,16-4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09:37:03.410"/>
    </inkml:context>
    <inkml:brush xml:id="br0">
      <inkml:brushProperty name="width" value="0.05" units="cm"/>
      <inkml:brushProperty name="height" value="0.05" units="cm"/>
      <inkml:brushProperty name="color" value="#E71224"/>
    </inkml:brush>
  </inkml:definitions>
  <inkml:trace contextRef="#ctx0" brushRef="#br0">4381 416 8191,'-65'-18'0,"0"-1"0,-2 4 0,-14-3 0,-6 1 0,2 1 0,9 4 0,1 2 0,6 3 0,-8-2 0,-6-2 0,-11-4 0,-4 0 0,5 3 0,14 3 205,-14 7 0,7 3-205,12-4 0,-4 0 0,3 1 0,-16 2 0,3 0 0,0-3 0,-3 0 0,18 3 0,-2 0 0,4-1 693,-7-2 1,4 0-694,0 1 0,0 4 1294,-6 3 1,9 3-1295,11 0 0,10 3 0,0 4 0,-12 10 0,12-6 0,-21 17 4202,50-26-4202,-50 20 4973,45-21-4973,-55 16 0,41-13 0,-13 1 0,-1 1 2056,1 3-2056,-38 9 0,14 12 0,11-10 0,1 4 0,1-1 135,1-2-135,13-5 0,-2 1 0,-33 6 0,25-5 0,-23 5 0,22 6 0,27-16 0,-16 17 0,20-8 0,10-10 0,-8 8 0,20-20 632,-2 9-632,6-9 0,-2 9 0,5-9 0,-2 1 0,3 17 0,0-12 0,4 20 0,4-15 0,4 5 0,13 10 0,15 6 0,13 11 0,27 1 0,6 0-1224,-43-25 1,3-1 1223,21 11 0,12 5 0,-4-8-1456,3-8 0,1-3 1456,-7 2 0,4 3 0,4-2-1455,13-2 1,4-2 0,0 0 1454,-6 0 0,1 1 0,3-2 0,-7-5 0,4-1 0,1-1 0,-4-1 0,8 0 0,-2-2 0,8 0 0,-25-4 0,6 1 0,5-1 0,0-1 0,-1 0 0,-5 0-858,17-1 1,-5 0-1,0-1 1,4 1 857,-4-1 0,4 2 0,1-1 0,-2 0 0,-4-1 0,3-1 0,-4 0 0,-3-2 0,-4 2 0,3-1 0,-4 1 0,1-1-71,-10-1 0,2-2 1,-1 1-1,-5 0 71,0 0 0,-4 0 0,3 0 0,26 0 0,6 0 0,-6 0 0,-28 0 0,-3 0 0,0 0 0,8-2 0,0-1 0,-3 1 0,11 2 0,-3-1 296,-3-6 0,0 0-296,-4 3 0,0 0 0,0-3 0,-2-1 1400,-19 1 1,-1 0-1401,12 0 0,2 0 0,-9 0 0,-1 0 0,-3 3 0,1 0 0,22 0 0,2 1 0,-5 3 0,4 0 734,2 2 1,6 0 0,1 2-735,-1 0 0,1 2 0,2 0-218,-10 0 0,4 0 0,0 0 0,-3 2 218,16 2 0,-1 2 0,0-1 0,6-2 0,1 0 0,0-1 0,-2-2 0,-1 0 0,0-2 0,3 0 0,1-2 0,0 0 0,-26-2 0,-2 0 0,3 0 0,5 0 0,5-1 0,6 0 0,2-1 0,-1 1 0,-6-2-620,0 0 1,-4-1-1,-1-1 1,5 1 619,-2 0 0,5 1 0,1 0 0,-3-1 0,-6-1 0,17-2 0,-7-1 0,1-1-254,5 1 0,0 0 0,-5 1 254,-23 1 0,-5 1 0,4-2 0,23-2 0,6-2 0,-6 0 0,-23 1 0,-4-1 0,5 0 0,22-2 0,5-2 0,-5 1 0,8-2 0,-1-1 0,-6 0 0,5-2 0,-5 3 0,8 2 0,-3 1 170,-24 2 1,2 0 0,-1 1-171,2 1 0,0 2 0,-8 2 0,-13 3 0,1 2 0,17-2 0,8-1 0,-8 1 768,-14 1 1,-2 2-769,25 1 0,15 2 0,-24 1 0,11 2 0,5 0 0,-1 0 0,-7 0 148,15 0 1,-7 0 0,8 0-149,-9 1 0,9 1 0,2-1 0,-4 1 0,-12-3 0,-2-2 0,-9-2 0,1 1 0,6 2 0,0 0 0,-3-1 0,10-3 0,0 0 0,-11 1 0,3 1 0,-6-1 391,0-1 1,-2-2-392,30 1 0,-1 0 287,-27 0 0,-2 0-287,22 3 0,-3 1 0,-32-4 0,0 1 0,20 2 0,2 0 0,-21 0 0,3 1 0,8-2 0,6 1 0,-8 0 0,-15 1 0,0 0 0,15-1 0,8 0 0,-8-2 0,28-1 0,-18 1 0,-2-2 682,6-4-682,6-3 0,-8 1 0,-1-4 0,9 3 0,-6 1 0,14 1 0,-6 6-691,-37 0 1,2 0 690,-1 0 0,1 0 0,7 0 0,2 0-227,-5 0 1,1 0 226,3 0 0,0 0 184,-4-3 1,-1-1-185,-2 1 0,-2-2 0,44-8 0,-36 2 0,-3 1 322,5-3-322,-10-1 0,-6 0 5905,-26 4-5905,12-10 1570,-29 10-1570,-2-8 1084,-13-25-1084,-8 2 0,-12-10 0,-2-1 0,-5-3 0,-15-15 0,37 48 0,4 8 0,-1 5 0,-12-23 0,9 18 0,-15-23 0,7 13 0,-4 0 0,-5-14 0,12 23 0,-3-18 0,-15-9 0,19 16 0,-27-26 0,16 21 0,5 1 0,-27-18 0,25 18 0,-14-2 0,-5-2 0,-18-14 0,-10-1 0,25 16 0,9 17 0,13 3 0,-12-5 0,-16-6 0,3 5 0,-2 1 0,-37-12-633,9 5 1,-3 3 632,29 12 0,1 3 0,-23-8 0,-3 1 0,-2 5 0,0 2 0,-2-4 0,-1 0 0,19 3 0,-2-1 0,3 1 0,-9-3 0,0-2 0,3 1 0,-5-1 0,1 1-930,5 3 0,1 1 0,1-2 930,0-2 0,1-1 0,-4-1-1469,-21 1 1,-5-1-1,4 1 1469,16 2 0,3 0 0,-3 0 0,6 2 0,-2 0 0,-2 1 0,1 1 0,-25-3 0,-1 2 0,6 2 0,22 2 0,5 1 0,-3 0 0,-13 0 0,-2 0 0,5 2 0,-9 4 0,1 1 0,12-3 0,-3-1 0,6 1 0,0 3 0,0-1-462,5-2 0,-4-1 0,8-1 462,12 1 0,2 0 250,-19 0 0,0 0-250,13 1 0,8-2 0,8-2 0,-55 2 0,65-3 1891,-49 10-1891,8 12 0,5-4 2161,9 5 0,0-1-2161,-1-3 0,11-1 0,-4-1 0,-11-4 0,1-4 0,-31 3 0,3-4 0,-11-1 0,31-3 0,-1 0 0,-2 0-487,-11 0 0,-1 0 1,0 0 486,3 0 0,0 0 0,-2 0 0,-10 0 0,-3 0 0,3 0 0,11 0 0,3 0 0,0 0 0,-3 0 0,0-1 0,-2 2 0,10 0 0,-3 1 0,1 0 0,4 0 0,-5 1 0,3-1 0,-5 3 0,-6 1 0,-6 2 0,-2 0 0,3 0 0,13-1 0,1-1 0,1 1 0,-2 1 0,-13 1 0,-3 2 0,1 0 0,8-2 0,7-2 0,6-2 0,-3 1 0,-21 2 0,-5 0 0,5-2 0,16-2 0,3-1 0,1 0 0,-1 0 0,1 0 0,-4 0 0,-17 0 0,-3 0 0,3-2-1691,21 0 1,3-2 0,-2 1 1690,-10 3 0,-3-1 0,-3 1 0,8-3 0,-5 0 0,2 0 0,10 1-768,-6 3 0,1 0 768,-12-4 0,-8 0 0,18 0-363,-1 0 363,12-1 0,2 2 2087,-2 4-2087,17-4 0,9 9 0,9-3 0,7 2 5451,-3 0-5451,16-5 2723,4 1-2723,-9 0 1303,9-1-1303,-9 3 0,9-7 0,-9 4 0,-4-4 0,5 0 0,-17 0 0,2 0 0,1-3 0,-4 2 0,-17-3 0,25 4 0,-57 0 0,49 0 0,-59 0 0,48 0 0,-24 0 0,33-5 0,-15-1 0,-1-3 0,5-3 0,-5 5 0,3-1 0,21 0 0,4 7 0,-6-4 0,5 5 0,4 0 0,2 0 0,13 3 0,4-2 0,-1 2 0,5 0 0,-2-2 0,3 2 0,-1 0 0,-5-3 0,5 3 0,-9 0 0,3-2 0,0 2 0,-29-3 0,17 0 0,-41 0 0,36 0 0,-38 0 0,35 0 0,-27 4 0,36-2 0,-10 6 0,17-7 0,-7 2 0,10-3 0,-1 0 0,5 0 0,1 0 0,-1 0 0,3 0 0,2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4307046" cy="341542"/>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9992" y="1"/>
            <a:ext cx="4307046" cy="341542"/>
          </a:xfrm>
          <a:prstGeom prst="rect">
            <a:avLst/>
          </a:prstGeom>
        </p:spPr>
        <p:txBody>
          <a:bodyPr vert="horz" lIns="91440" tIns="45720" rIns="91440" bIns="45720" rtlCol="0"/>
          <a:lstStyle>
            <a:lvl1pPr algn="r">
              <a:defRPr sz="1200"/>
            </a:lvl1pPr>
          </a:lstStyle>
          <a:p>
            <a:fld id="{C24692CB-8CE8-49ED-9E59-33F3E9EB1256}" type="datetimeFigureOut">
              <a:rPr kumimoji="1" lang="ja-JP" altLang="en-US" smtClean="0"/>
              <a:t>2026/1/9</a:t>
            </a:fld>
            <a:endParaRPr kumimoji="1" lang="ja-JP" altLang="en-US"/>
          </a:p>
        </p:txBody>
      </p:sp>
      <p:sp>
        <p:nvSpPr>
          <p:cNvPr id="4" name="スライド イメージ プレースホルダー 3"/>
          <p:cNvSpPr>
            <a:spLocks noGrp="1" noRot="1" noChangeAspect="1"/>
          </p:cNvSpPr>
          <p:nvPr>
            <p:ph type="sldImg" idx="2"/>
          </p:nvPr>
        </p:nvSpPr>
        <p:spPr>
          <a:xfrm>
            <a:off x="2927350" y="850900"/>
            <a:ext cx="4084638" cy="22971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93934" y="3275965"/>
            <a:ext cx="7951470" cy="268033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465659"/>
            <a:ext cx="4307046" cy="341541"/>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629992" y="6465659"/>
            <a:ext cx="4307046" cy="341541"/>
          </a:xfrm>
          <a:prstGeom prst="rect">
            <a:avLst/>
          </a:prstGeom>
        </p:spPr>
        <p:txBody>
          <a:bodyPr vert="horz" lIns="91440" tIns="45720" rIns="91440" bIns="45720" rtlCol="0" anchor="b"/>
          <a:lstStyle>
            <a:lvl1pPr algn="r">
              <a:defRPr sz="1200"/>
            </a:lvl1pPr>
          </a:lstStyle>
          <a:p>
            <a:fld id="{9DD6349C-1F7D-4978-8A15-8C1464D24FF2}" type="slidenum">
              <a:rPr kumimoji="1" lang="ja-JP" altLang="en-US" smtClean="0"/>
              <a:t>‹#›</a:t>
            </a:fld>
            <a:endParaRPr kumimoji="1" lang="ja-JP" altLang="en-US"/>
          </a:p>
        </p:txBody>
      </p:sp>
    </p:spTree>
    <p:extLst>
      <p:ext uri="{BB962C8B-B14F-4D97-AF65-F5344CB8AC3E}">
        <p14:creationId xmlns:p14="http://schemas.microsoft.com/office/powerpoint/2010/main" val="333288592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DD6349C-1F7D-4978-8A15-8C1464D24FF2}" type="slidenum">
              <a:rPr kumimoji="1" lang="ja-JP" altLang="en-US" smtClean="0"/>
              <a:t>1</a:t>
            </a:fld>
            <a:endParaRPr kumimoji="1" lang="ja-JP" altLang="en-US"/>
          </a:p>
        </p:txBody>
      </p:sp>
    </p:spTree>
    <p:extLst>
      <p:ext uri="{BB962C8B-B14F-4D97-AF65-F5344CB8AC3E}">
        <p14:creationId xmlns:p14="http://schemas.microsoft.com/office/powerpoint/2010/main" val="3355143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　大規模災害の発生時において、住民の避難状況をリアルタイムに把握することは、救援資源の合理的な配分や二次災害の防止にとって重要な意義があります。しかし、従来の避難行動に関するデータは、収集から利用可能になるまでに時間を要することが多く、災害発生初期の意思決定を十分に支援するには限界が</a:t>
            </a:r>
            <a:r>
              <a:rPr lang="ja-JP" altLang="en-US"/>
              <a:t>ある。</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これ</a:t>
            </a:r>
            <a:r>
              <a:rPr lang="ja-JP" altLang="en-US" dirty="0"/>
              <a:t>に対し、</a:t>
            </a:r>
            <a:r>
              <a:rPr lang="en-US" altLang="ja-JP" dirty="0"/>
              <a:t>Twitter</a:t>
            </a:r>
            <a:r>
              <a:rPr lang="ja-JP" altLang="en-US" dirty="0"/>
              <a:t>などのソーシャルメディア・プラットフォームでは、災害発生後に大量のリアルタイム情報が急速に投稿され、そこには発災地点、避難の呼びかけ、被害状況の記述、さらには実際に避難している人々の具体的な状況が含まれる。これらの情報を体系的に抽出・分析できれば、を実現し、防災・減災に向けた新たなデータ基盤としての活用が期待される。</a:t>
            </a:r>
            <a:endParaRPr lang="en-US" dirty="0"/>
          </a:p>
        </p:txBody>
      </p:sp>
      <p:sp>
        <p:nvSpPr>
          <p:cNvPr id="4" name="Slide Number Placeholder 3"/>
          <p:cNvSpPr>
            <a:spLocks noGrp="1"/>
          </p:cNvSpPr>
          <p:nvPr>
            <p:ph type="sldNum" sz="quarter" idx="5"/>
          </p:nvPr>
        </p:nvSpPr>
        <p:spPr/>
        <p:txBody>
          <a:bodyPr/>
          <a:lstStyle/>
          <a:p>
            <a:fld id="{9DD6349C-1F7D-4978-8A15-8C1464D24FF2}" type="slidenum">
              <a:rPr kumimoji="1" lang="ja-JP" altLang="en-US" smtClean="0"/>
              <a:t>2</a:t>
            </a:fld>
            <a:endParaRPr kumimoji="1" lang="ja-JP" altLang="en-US"/>
          </a:p>
        </p:txBody>
      </p:sp>
    </p:spTree>
    <p:extLst>
      <p:ext uri="{BB962C8B-B14F-4D97-AF65-F5344CB8AC3E}">
        <p14:creationId xmlns:p14="http://schemas.microsoft.com/office/powerpoint/2010/main" val="2501608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この研究は、災害発生時に</a:t>
            </a:r>
            <a:r>
              <a:rPr lang="en-US" altLang="ja-JP" dirty="0"/>
              <a:t>Twitter</a:t>
            </a:r>
            <a:r>
              <a:rPr lang="ja-JP" altLang="en-US" dirty="0"/>
              <a:t>上へ大量に流れる断片的で重複が多くノイズの多い救援関連ツイートを、自動的に「カテゴリ別の短い状況要約」に整理し、救援担当者が現場の状況を素早く把握できるようにすることを目的としている。まず</a:t>
            </a:r>
            <a:r>
              <a:rPr lang="en-US" altLang="ja-JP" dirty="0"/>
              <a:t>AIDR</a:t>
            </a:r>
            <a:r>
              <a:rPr lang="ja-JP" altLang="en-US" dirty="0"/>
              <a:t>でツイートを情報カテゴリ（例：行方不明者、インフラ被害、物資ニーズ）に分類し、次に重複を除いて情報量の多いツイートを抽出する。その後、類似内容を統合して読みやすい文を生成し、最後に文字数制約のもとで情報量が最大で重複が最小となる数文を選んで最終要約とする。</a:t>
            </a:r>
            <a:endParaRPr lang="en-US" dirty="0"/>
          </a:p>
        </p:txBody>
      </p:sp>
      <p:sp>
        <p:nvSpPr>
          <p:cNvPr id="4" name="Slide Number Placeholder 3"/>
          <p:cNvSpPr>
            <a:spLocks noGrp="1"/>
          </p:cNvSpPr>
          <p:nvPr>
            <p:ph type="sldNum" sz="quarter" idx="5"/>
          </p:nvPr>
        </p:nvSpPr>
        <p:spPr/>
        <p:txBody>
          <a:bodyPr/>
          <a:lstStyle/>
          <a:p>
            <a:fld id="{9DD6349C-1F7D-4978-8A15-8C1464D24FF2}" type="slidenum">
              <a:rPr kumimoji="1" lang="ja-JP" altLang="en-US" smtClean="0"/>
              <a:t>3</a:t>
            </a:fld>
            <a:endParaRPr kumimoji="1" lang="ja-JP" altLang="en-US"/>
          </a:p>
        </p:txBody>
      </p:sp>
    </p:spTree>
    <p:extLst>
      <p:ext uri="{BB962C8B-B14F-4D97-AF65-F5344CB8AC3E}">
        <p14:creationId xmlns:p14="http://schemas.microsoft.com/office/powerpoint/2010/main" val="2421168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ja-JP" altLang="en-US" dirty="0"/>
              <a:t> つぎ研究の主な目的は、災害／公衆衛生上の緊急事態の際に投稿される </a:t>
            </a:r>
            <a:r>
              <a:rPr lang="en-US" altLang="ja-JP" dirty="0"/>
              <a:t>Twitter </a:t>
            </a:r>
            <a:r>
              <a:rPr lang="ja-JP" altLang="en-US" dirty="0"/>
              <a:t>のツイートを活用し、非構造化テキストを救援意思決定に利用できる構造化情報へ変換することである。著者らはツイートを「資源ニーズ（</a:t>
            </a:r>
            <a:r>
              <a:rPr lang="en-US" altLang="ja-JP" dirty="0"/>
              <a:t>need</a:t>
            </a:r>
            <a:r>
              <a:rPr lang="ja-JP" altLang="en-US" dirty="0"/>
              <a:t>）」「資源の提供／入手可能（</a:t>
            </a:r>
            <a:r>
              <a:rPr lang="en-US" altLang="ja-JP" dirty="0"/>
              <a:t>availability</a:t>
            </a:r>
            <a:r>
              <a:rPr lang="ja-JP" altLang="en-US" dirty="0"/>
              <a:t>）」「その他（</a:t>
            </a:r>
            <a:r>
              <a:rPr lang="en-US" altLang="ja-JP" dirty="0"/>
              <a:t>others</a:t>
            </a:r>
            <a:r>
              <a:rPr lang="ja-JP" altLang="en-US" dirty="0"/>
              <a:t>）」の</a:t>
            </a:r>
            <a:r>
              <a:rPr lang="en-US" altLang="ja-JP" dirty="0"/>
              <a:t>3</a:t>
            </a:r>
            <a:r>
              <a:rPr lang="ja-JP" altLang="en-US" dirty="0"/>
              <a:t>種類に分類</a:t>
            </a:r>
            <a:r>
              <a:rPr lang="ja-JP" altLang="en-US"/>
              <a:t>し、</a:t>
            </a:r>
            <a:endParaRPr lang="en-US" altLang="ja-JP" dirty="0"/>
          </a:p>
          <a:p>
            <a:endParaRPr lang="en-US" altLang="ja-JP" dirty="0"/>
          </a:p>
          <a:p>
            <a:r>
              <a:rPr lang="en-US" altLang="ja-JP" dirty="0"/>
              <a:t>2015</a:t>
            </a:r>
            <a:r>
              <a:rPr lang="ja-JP" altLang="en-US" dirty="0"/>
              <a:t>年ネパール地震および</a:t>
            </a:r>
            <a:r>
              <a:rPr lang="en-US" altLang="ja-JP" dirty="0"/>
              <a:t>2016</a:t>
            </a:r>
            <a:r>
              <a:rPr lang="ja-JP" altLang="en-US" dirty="0"/>
              <a:t>年イタリア地震の公開データで学習・検証を行った。さらに、著者らが収集してアノテーションした </a:t>
            </a:r>
            <a:r>
              <a:rPr lang="en-US" altLang="ja-JP" dirty="0"/>
              <a:t>COVID-19 </a:t>
            </a:r>
            <a:r>
              <a:rPr lang="ja-JP" altLang="en-US" dirty="0"/>
              <a:t>関連ツイートをテストに用い、その結果、</a:t>
            </a:r>
            <a:r>
              <a:rPr lang="en-US" altLang="ja-JP" dirty="0"/>
              <a:t>COVID-19 </a:t>
            </a:r>
            <a:r>
              <a:rPr lang="ja-JP" altLang="en-US" dirty="0"/>
              <a:t>データに対して約</a:t>
            </a:r>
            <a:r>
              <a:rPr lang="en-US" altLang="ja-JP" dirty="0"/>
              <a:t>83%</a:t>
            </a:r>
            <a:r>
              <a:rPr lang="ja-JP" altLang="en-US" dirty="0"/>
              <a:t>の分類精度を達成した。また、災害種別によるデータ分布の違いと、モデルの再利用可能性についても議論している。</a:t>
            </a:r>
            <a:endParaRPr lang="zh-CN" altLang="en-US" dirty="0"/>
          </a:p>
        </p:txBody>
      </p:sp>
      <p:sp>
        <p:nvSpPr>
          <p:cNvPr id="4" name="灯片编号占位符 3"/>
          <p:cNvSpPr>
            <a:spLocks noGrp="1"/>
          </p:cNvSpPr>
          <p:nvPr>
            <p:ph type="sldNum" sz="quarter" idx="5"/>
          </p:nvPr>
        </p:nvSpPr>
        <p:spPr/>
        <p:txBody>
          <a:bodyPr/>
          <a:lstStyle/>
          <a:p>
            <a:fld id="{9DD6349C-1F7D-4978-8A15-8C1464D24FF2}" type="slidenum">
              <a:rPr kumimoji="1" lang="ja-JP" altLang="en-US" smtClean="0"/>
              <a:t>4</a:t>
            </a:fld>
            <a:endParaRPr kumimoji="1" lang="ja-JP" altLang="en-US"/>
          </a:p>
        </p:txBody>
      </p:sp>
    </p:spTree>
    <p:extLst>
      <p:ext uri="{BB962C8B-B14F-4D97-AF65-F5344CB8AC3E}">
        <p14:creationId xmlns:p14="http://schemas.microsoft.com/office/powerpoint/2010/main" val="949054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本研究の目的は、</a:t>
            </a:r>
            <a:r>
              <a:rPr lang="en-US" altLang="ja-JP" dirty="0"/>
              <a:t>Twitter</a:t>
            </a:r>
            <a:r>
              <a:rPr lang="ja-JP" altLang="en-US" dirty="0"/>
              <a:t>上のツイートデータを分析・整理し、現実の被災報告書の構成や表現に沿って情報を抽出・統合・要約することで、内容が可能な限り実際の被災報告書に近い報告書を自動生成することである。</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indent="0">
              <a:buFont typeface="Arial" panose="020B0604020202020204" pitchFamily="34" charset="0"/>
              <a:buNone/>
            </a:pPr>
            <a:r>
              <a:rPr lang="ja-JP" altLang="en-US" dirty="0"/>
              <a:t>この目的と達成するため、本研究の課題は、大きく三点がある。</a:t>
            </a:r>
            <a:endParaRPr lang="en-US" altLang="ja-JP" dirty="0"/>
          </a:p>
          <a:p>
            <a:pPr marL="0" indent="0">
              <a:buFont typeface="Arial" panose="020B0604020202020204" pitchFamily="34" charset="0"/>
              <a:buNone/>
            </a:pPr>
            <a:r>
              <a:rPr lang="ja-JP" altLang="en-US" dirty="0"/>
              <a:t>生データ（</a:t>
            </a:r>
            <a:r>
              <a:rPr lang="en-US" altLang="ja-JP" dirty="0"/>
              <a:t>raw data</a:t>
            </a:r>
            <a:r>
              <a:rPr lang="ja-JP" altLang="en-US" dirty="0"/>
              <a:t>）から人数に関する情報をどのように抽出するか。</a:t>
            </a:r>
            <a:endParaRPr lang="en-US" altLang="ja-JP" dirty="0"/>
          </a:p>
          <a:p>
            <a:pPr marL="0" indent="0">
              <a:buFont typeface="Arial" panose="020B0604020202020204" pitchFamily="34" charset="0"/>
              <a:buNone/>
            </a:pPr>
            <a:r>
              <a:rPr lang="ja-JP" altLang="en-US" dirty="0"/>
              <a:t>推文情報を実際の人口密度や地理的条件などの情報と組み合わせることで、被災状況をどのように推定・把握するか。</a:t>
            </a:r>
            <a:endParaRPr lang="en-US" altLang="ja-JP" dirty="0"/>
          </a:p>
          <a:p>
            <a:pPr marL="0" indent="0">
              <a:buFont typeface="Arial" panose="020B0604020202020204" pitchFamily="34" charset="0"/>
              <a:buNone/>
            </a:pPr>
            <a:r>
              <a:rPr lang="ja-JP" altLang="en-US" dirty="0"/>
              <a:t>統計情報（定量）とテキスト情報（定性）に基づいて、高品質な報告書をどのように生成するか。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9DD6349C-1F7D-4978-8A15-8C1464D24FF2}" type="slidenum">
              <a:rPr kumimoji="1" lang="ja-JP" altLang="en-US" smtClean="0"/>
              <a:t>5</a:t>
            </a:fld>
            <a:endParaRPr kumimoji="1" lang="ja-JP" altLang="en-US"/>
          </a:p>
        </p:txBody>
      </p:sp>
    </p:spTree>
    <p:extLst>
      <p:ext uri="{BB962C8B-B14F-4D97-AF65-F5344CB8AC3E}">
        <p14:creationId xmlns:p14="http://schemas.microsoft.com/office/powerpoint/2010/main" val="1939066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研究の流れは</a:t>
            </a:r>
            <a:r>
              <a:rPr lang="en-US" altLang="ja-JP" dirty="0"/>
              <a:t>3</a:t>
            </a:r>
            <a:r>
              <a:rPr lang="ja-JP" altLang="en-US" dirty="0"/>
              <a:t>つの部分に分かれる。分類、統計、生成です。</a:t>
            </a:r>
            <a:endParaRPr lang="en-US" altLang="ja-JP" dirty="0"/>
          </a:p>
          <a:p>
            <a:r>
              <a:rPr lang="ja-JP" altLang="en-US" dirty="0"/>
              <a:t>まず推文データを前処理（クリーニング、重複除去、言語フィルタリング、文分割など）し、その後</a:t>
            </a:r>
            <a:r>
              <a:rPr lang="en-US" altLang="ja-JP" dirty="0"/>
              <a:t>BERT</a:t>
            </a:r>
            <a:r>
              <a:rPr lang="ja-JP" altLang="en-US" dirty="0"/>
              <a:t>で被災関連の分類を行うとともに、関連推文から避難人数・建築損傷・医療ニーズなどの構造化情報を抽出して計算可能なフィールド表現を作成する。次に、スクリプトにより統計集計と整合性処理（地域／時間別の集約、重複除去、信頼度による重み付け、欠損値処理など）を行って定量指標を得る。最後に、統計結果、推文要約、地理・人口の事前情報、および公式報告書を模したプロンプトテンプレートを併せて</a:t>
            </a:r>
            <a:r>
              <a:rPr lang="en-US" altLang="ja-JP" dirty="0" err="1"/>
              <a:t>ChatGPT</a:t>
            </a:r>
            <a:r>
              <a:rPr lang="ja-JP" altLang="en-US" dirty="0"/>
              <a:t>に入力し、情報を統合して生成することで、推文データに基づく災害状況報告書を出力する。</a:t>
            </a:r>
            <a:endParaRPr lang="en-US" dirty="0"/>
          </a:p>
        </p:txBody>
      </p:sp>
      <p:sp>
        <p:nvSpPr>
          <p:cNvPr id="4" name="Slide Number Placeholder 3"/>
          <p:cNvSpPr>
            <a:spLocks noGrp="1"/>
          </p:cNvSpPr>
          <p:nvPr>
            <p:ph type="sldNum" sz="quarter" idx="5"/>
          </p:nvPr>
        </p:nvSpPr>
        <p:spPr/>
        <p:txBody>
          <a:bodyPr/>
          <a:lstStyle/>
          <a:p>
            <a:fld id="{9DD6349C-1F7D-4978-8A15-8C1464D24FF2}" type="slidenum">
              <a:rPr kumimoji="1" lang="ja-JP" altLang="en-US" smtClean="0"/>
              <a:t>6</a:t>
            </a:fld>
            <a:endParaRPr kumimoji="1" lang="ja-JP" altLang="en-US"/>
          </a:p>
        </p:txBody>
      </p:sp>
    </p:spTree>
    <p:extLst>
      <p:ext uri="{BB962C8B-B14F-4D97-AF65-F5344CB8AC3E}">
        <p14:creationId xmlns:p14="http://schemas.microsoft.com/office/powerpoint/2010/main" val="4115040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Twitter(X) </a:t>
            </a:r>
            <a:r>
              <a:rPr lang="ja-JP" altLang="en-US" dirty="0"/>
              <a:t>から取得したツイートに対して、まず</a:t>
            </a:r>
            <a:r>
              <a:rPr lang="en-US" altLang="ja-JP" dirty="0"/>
              <a:t>BERT</a:t>
            </a:r>
            <a:r>
              <a:rPr lang="ja-JP" altLang="en-US" dirty="0"/>
              <a:t>でテキスト特徴量を抽出し（計算コストを抑えるため</a:t>
            </a:r>
            <a:r>
              <a:rPr lang="en-US" altLang="ja-JP" dirty="0"/>
              <a:t>BERT</a:t>
            </a:r>
            <a:r>
              <a:rPr lang="ja-JP" altLang="en-US" dirty="0"/>
              <a:t>本体のパラメータは凍結）、次に</a:t>
            </a:r>
            <a:r>
              <a:rPr lang="en-US" altLang="ja-JP" dirty="0" err="1"/>
              <a:t>LoRA</a:t>
            </a:r>
            <a:r>
              <a:rPr lang="ja-JP" altLang="en-US" dirty="0"/>
              <a:t>で少量のパラメータのみを微調整して対象データセットに適応させることで、各ツイートをあらかじめ定義したクラス（災害の種類や情報タイプなど）に分類する。学習時には、正解ラベルとモデル出力の差を交差エントロピー損失で最適化する。こうして得られた分類結果により、雑多なツイートを構造化ラベルに変換でき、地域・時間・クラス別の統計集計（件数、割合、推移など）が可能となり、被害状況の定量分析やツイートに基づく報告書生成のための信頼できる入力を提供</a:t>
            </a:r>
            <a:r>
              <a:rPr lang="ja-JP" altLang="en-US"/>
              <a:t>する。</a:t>
            </a:r>
            <a:endParaRPr lang="en-US" altLang="ja-JP" dirty="0"/>
          </a:p>
          <a:p>
            <a:endParaRPr lang="en-US" dirty="0"/>
          </a:p>
          <a:p>
            <a:r>
              <a:rPr lang="en-US" altLang="ja-JP" dirty="0"/>
              <a:t>Why </a:t>
            </a:r>
            <a:r>
              <a:rPr lang="en-US" altLang="ja-JP" dirty="0" err="1"/>
              <a:t>bert</a:t>
            </a:r>
            <a:r>
              <a:rPr lang="en-US" altLang="ja-JP" dirty="0"/>
              <a:t>, why use lora</a:t>
            </a:r>
            <a:endParaRPr lang="en-US" dirty="0"/>
          </a:p>
        </p:txBody>
      </p:sp>
      <p:sp>
        <p:nvSpPr>
          <p:cNvPr id="4" name="Slide Number Placeholder 3"/>
          <p:cNvSpPr>
            <a:spLocks noGrp="1"/>
          </p:cNvSpPr>
          <p:nvPr>
            <p:ph type="sldNum" sz="quarter" idx="5"/>
          </p:nvPr>
        </p:nvSpPr>
        <p:spPr/>
        <p:txBody>
          <a:bodyPr/>
          <a:lstStyle/>
          <a:p>
            <a:fld id="{9DD6349C-1F7D-4978-8A15-8C1464D24FF2}" type="slidenum">
              <a:rPr kumimoji="1" lang="ja-JP" altLang="en-US" smtClean="0"/>
              <a:t>7</a:t>
            </a:fld>
            <a:endParaRPr kumimoji="1" lang="ja-JP" altLang="en-US"/>
          </a:p>
        </p:txBody>
      </p:sp>
    </p:spTree>
    <p:extLst>
      <p:ext uri="{BB962C8B-B14F-4D97-AF65-F5344CB8AC3E}">
        <p14:creationId xmlns:p14="http://schemas.microsoft.com/office/powerpoint/2010/main" val="2169490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ja-JP" altLang="en-US" dirty="0"/>
              <a:t>災害発生後、システムは定期的に</a:t>
            </a:r>
            <a:r>
              <a:rPr lang="en-US" altLang="ja-JP" dirty="0"/>
              <a:t>X</a:t>
            </a:r>
            <a:r>
              <a:rPr lang="ja-JP" altLang="en-US" dirty="0"/>
              <a:t>（旧</a:t>
            </a:r>
            <a:r>
              <a:rPr lang="en-US" altLang="ja-JP" dirty="0"/>
              <a:t>Twitter</a:t>
            </a:r>
            <a:r>
              <a:rPr lang="ja-JP" altLang="en-US" dirty="0"/>
              <a:t>）から関連情報を収集し、それらを大規模言語モデルに渡して分析・整理します。すると、政府向けの被災状況の要約報告書と、利用者向けのリアルタイム避難指示の</a:t>
            </a:r>
            <a:r>
              <a:rPr lang="en-US" altLang="ja-JP" dirty="0"/>
              <a:t>2</a:t>
            </a:r>
            <a:r>
              <a:rPr lang="ja-JP" altLang="en-US" dirty="0"/>
              <a:t>種類の出力が自動生成されます。政府は報告書に基づいて救援活動を行い、その支援情報を利用者にフィードバックします。同時に、利用者や現場から新たな投稿データが継続的に収集・分析されることで、報告と避難案内が不断に更新されます。</a:t>
            </a:r>
            <a:endParaRPr lang="zh-CN" altLang="en-US" dirty="0"/>
          </a:p>
        </p:txBody>
      </p:sp>
      <p:sp>
        <p:nvSpPr>
          <p:cNvPr id="4" name="灯片编号占位符 3"/>
          <p:cNvSpPr>
            <a:spLocks noGrp="1"/>
          </p:cNvSpPr>
          <p:nvPr>
            <p:ph type="sldNum" sz="quarter" idx="5"/>
          </p:nvPr>
        </p:nvSpPr>
        <p:spPr/>
        <p:txBody>
          <a:bodyPr/>
          <a:lstStyle/>
          <a:p>
            <a:fld id="{9DD6349C-1F7D-4978-8A15-8C1464D24FF2}" type="slidenum">
              <a:rPr kumimoji="1" lang="ja-JP" altLang="en-US" smtClean="0"/>
              <a:t>8</a:t>
            </a:fld>
            <a:endParaRPr kumimoji="1" lang="ja-JP" altLang="en-US"/>
          </a:p>
        </p:txBody>
      </p:sp>
    </p:spTree>
    <p:extLst>
      <p:ext uri="{BB962C8B-B14F-4D97-AF65-F5344CB8AC3E}">
        <p14:creationId xmlns:p14="http://schemas.microsoft.com/office/powerpoint/2010/main" val="3384512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DD6349C-1F7D-4978-8A15-8C1464D24FF2}" type="slidenum">
              <a:rPr kumimoji="1" lang="ja-JP" altLang="en-US" smtClean="0"/>
              <a:t>9</a:t>
            </a:fld>
            <a:endParaRPr kumimoji="1" lang="ja-JP" altLang="en-US"/>
          </a:p>
        </p:txBody>
      </p:sp>
    </p:spTree>
    <p:extLst>
      <p:ext uri="{BB962C8B-B14F-4D97-AF65-F5344CB8AC3E}">
        <p14:creationId xmlns:p14="http://schemas.microsoft.com/office/powerpoint/2010/main" val="389951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5E0101DF-3CE2-43DF-BFC9-E2A8178AA648}" type="datetime1">
              <a:rPr kumimoji="1" lang="ja-JP" altLang="en-US" smtClean="0"/>
              <a:t>2026/1/9</a:t>
            </a:fld>
            <a:endParaRPr kumimoji="1" lang="ja-JP" altLang="en-US"/>
          </a:p>
        </p:txBody>
      </p:sp>
      <p:sp>
        <p:nvSpPr>
          <p:cNvPr id="5" name="Footer Placeholder 4"/>
          <p:cNvSpPr>
            <a:spLocks noGrp="1"/>
          </p:cNvSpPr>
          <p:nvPr>
            <p:ph type="ftr" sz="quarter" idx="11"/>
          </p:nvPr>
        </p:nvSpPr>
        <p:spPr/>
        <p:txBody>
          <a:bodyPr/>
          <a:lstStyle/>
          <a:p>
            <a:endParaRPr kumimoji="1" lang="ja-JP" altLang="en-US" dirty="0"/>
          </a:p>
        </p:txBody>
      </p:sp>
      <p:sp>
        <p:nvSpPr>
          <p:cNvPr id="6" name="Slide Number Placeholder 5"/>
          <p:cNvSpPr>
            <a:spLocks noGrp="1"/>
          </p:cNvSpPr>
          <p:nvPr>
            <p:ph type="sldNum" sz="quarter" idx="12"/>
          </p:nvPr>
        </p:nvSpPr>
        <p:spPr/>
        <p:txBody>
          <a:bodyPr/>
          <a:lstStyle/>
          <a:p>
            <a:fld id="{6732DEBC-3A3D-4A20-A97E-1DC1DBFA9CD8}" type="slidenum">
              <a:rPr lang="ja-JP" altLang="en-US" smtClean="0"/>
              <a:pPr/>
              <a:t>‹#›</a:t>
            </a:fld>
            <a:endParaRPr lang="ja-JP" altLang="en-US" dirty="0"/>
          </a:p>
        </p:txBody>
      </p:sp>
    </p:spTree>
    <p:extLst>
      <p:ext uri="{BB962C8B-B14F-4D97-AF65-F5344CB8AC3E}">
        <p14:creationId xmlns:p14="http://schemas.microsoft.com/office/powerpoint/2010/main" val="286667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5F93568-2BD2-454B-AFE0-160174C4F5D5}" type="datetime1">
              <a:rPr kumimoji="1" lang="ja-JP" altLang="en-US" smtClean="0"/>
              <a:t>2026/1/9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3236782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8E9D40D2-D4D0-4BD3-9BB0-2D775BDF9E9B}" type="datetime1">
              <a:rPr kumimoji="1" lang="ja-JP" altLang="en-US" smtClean="0"/>
              <a:t>2026/1/9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3971479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44833A6C-AD57-4F07-9D1F-119AF1AEE236}" type="datetime1">
              <a:rPr kumimoji="1" lang="ja-JP" altLang="en-US" smtClean="0"/>
              <a:t>2026/1/9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2162105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45127" y="2507550"/>
            <a:ext cx="5156200"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7550"/>
            <a:ext cx="5181601"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93A4DE1C-DFF9-41AB-8448-F400C43DE63A}" type="datetime1">
              <a:rPr kumimoji="1" lang="ja-JP" altLang="en-US" smtClean="0"/>
              <a:t>2026/1/9</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
        <p:nvSpPr>
          <p:cNvPr id="10" name="Title 9"/>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3396397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8DBC971-7CAB-49E0-8D82-A4757813DC7B}" type="datetime1">
              <a:rPr kumimoji="1" lang="ja-JP" altLang="en-US" smtClean="0"/>
              <a:t>2026/1/9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
        <p:nvSpPr>
          <p:cNvPr id="6" name="Title 5"/>
          <p:cNvSpPr>
            <a:spLocks noGrp="1"/>
          </p:cNvSpPr>
          <p:nvPr>
            <p:ph type="title"/>
          </p:nvPr>
        </p:nvSpPr>
        <p:spPr/>
        <p:txBody>
          <a:bodyPr/>
          <a:lstStyle/>
          <a:p>
            <a:r>
              <a:rPr lang="ja-JP" altLang="en-US"/>
              <a:t>マスター タイトルの書式設定</a:t>
            </a:r>
            <a:endParaRPr lang="en-US"/>
          </a:p>
        </p:txBody>
      </p:sp>
    </p:spTree>
    <p:extLst>
      <p:ext uri="{BB962C8B-B14F-4D97-AF65-F5344CB8AC3E}">
        <p14:creationId xmlns:p14="http://schemas.microsoft.com/office/powerpoint/2010/main" val="2352087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AAB5F4-5594-4718-AF33-E26B9563B377}" type="datetime1">
              <a:rPr kumimoji="1" lang="ja-JP" altLang="en-US" smtClean="0"/>
              <a:t>2026/1/9</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903644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ja-JP" altLang="en-US"/>
              <a:t>マスター タイトルの書式設定</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C2C144F-E9EE-4D8E-B9DC-0682BD7CE023}" type="datetime1">
              <a:rPr kumimoji="1" lang="ja-JP" altLang="en-US" smtClean="0"/>
              <a:t>2026/1/9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1191112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ja-JP" altLang="en-US"/>
              <a:t>マスター タイトルの書式設定</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B764A0D-C1B8-4EFA-A2AA-96EC943E1F7E}" type="datetime1">
              <a:rPr kumimoji="1" lang="ja-JP" altLang="en-US" smtClean="0"/>
              <a:t>2026/1/9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1895589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FE0FA87-979C-4850-99CF-6DCAD735CAB6}" type="datetime1">
              <a:rPr kumimoji="1" lang="ja-JP" altLang="en-US" smtClean="0"/>
              <a:t>2026/1/9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2106466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E54B7A69-7EAC-437F-953C-746762E85982}" type="datetime1">
              <a:rPr kumimoji="1" lang="ja-JP" altLang="en-US" smtClean="0"/>
              <a:t>2026/1/9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3863718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5E0101DF-3CE2-43DF-BFC9-E2A8178AA648}" type="datetime1">
              <a:rPr kumimoji="1" lang="ja-JP" altLang="en-US" smtClean="0"/>
              <a:t>2026/1/9</a:t>
            </a:fld>
            <a:endParaRPr kumimoji="1" lang="ja-JP" altLang="en-US"/>
          </a:p>
        </p:txBody>
      </p:sp>
      <p:sp>
        <p:nvSpPr>
          <p:cNvPr id="5" name="Footer Placeholder 4"/>
          <p:cNvSpPr>
            <a:spLocks noGrp="1"/>
          </p:cNvSpPr>
          <p:nvPr>
            <p:ph type="ftr" sz="quarter" idx="11"/>
          </p:nvPr>
        </p:nvSpPr>
        <p:spPr/>
        <p:txBody>
          <a:bodyPr/>
          <a:lstStyle/>
          <a:p>
            <a:endParaRPr kumimoji="1" lang="ja-JP" altLang="en-US" dirty="0"/>
          </a:p>
        </p:txBody>
      </p:sp>
      <p:sp>
        <p:nvSpPr>
          <p:cNvPr id="6" name="Slide Number Placeholder 5"/>
          <p:cNvSpPr>
            <a:spLocks noGrp="1"/>
          </p:cNvSpPr>
          <p:nvPr>
            <p:ph type="sldNum" sz="quarter" idx="12"/>
          </p:nvPr>
        </p:nvSpPr>
        <p:spPr/>
        <p:txBody>
          <a:bodyPr/>
          <a:lstStyle>
            <a:lvl1pPr>
              <a:defRPr sz="2000" b="1"/>
            </a:lvl1pPr>
          </a:lstStyle>
          <a:p>
            <a:fld id="{6732DEBC-3A3D-4A20-A97E-1DC1DBFA9CD8}" type="slidenum">
              <a:rPr lang="ja-JP" altLang="en-US" smtClean="0"/>
              <a:pPr/>
              <a:t>‹#›</a:t>
            </a:fld>
            <a:endParaRPr lang="ja-JP" altLang="en-US" dirty="0"/>
          </a:p>
        </p:txBody>
      </p:sp>
    </p:spTree>
    <p:extLst>
      <p:ext uri="{BB962C8B-B14F-4D97-AF65-F5344CB8AC3E}">
        <p14:creationId xmlns:p14="http://schemas.microsoft.com/office/powerpoint/2010/main" val="369858481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10"/>
          </p:nvPr>
        </p:nvSpPr>
        <p:spPr/>
        <p:txBody>
          <a:bodyPr/>
          <a:lstStyle/>
          <a:p>
            <a:fld id="{05F93568-2BD2-454B-AFE0-160174C4F5D5}" type="datetime1">
              <a:rPr kumimoji="1" lang="ja-JP" altLang="en-US" smtClean="0"/>
              <a:t>2026/1/9</a:t>
            </a:fld>
            <a:endParaRPr kumimoji="1" lang="ja-JP" altLang="en-US"/>
          </a:p>
        </p:txBody>
      </p:sp>
      <p:sp>
        <p:nvSpPr>
          <p:cNvPr id="5" name="Footer Placeholder 4"/>
          <p:cNvSpPr>
            <a:spLocks noGrp="1"/>
          </p:cNvSpPr>
          <p:nvPr>
            <p:ph type="ftr" sz="quarter" idx="11"/>
          </p:nvPr>
        </p:nvSpPr>
        <p:spPr>
          <a:xfrm>
            <a:off x="838200" y="6356350"/>
            <a:ext cx="10515600" cy="365125"/>
          </a:xfrm>
        </p:spPr>
        <p:txBody>
          <a:bodyPr/>
          <a:lstStyle/>
          <a:p>
            <a:endParaRPr kumimoji="1" lang="ja-JP" altLang="en-US" dirty="0"/>
          </a:p>
        </p:txBody>
      </p:sp>
      <p:sp>
        <p:nvSpPr>
          <p:cNvPr id="6" name="Slide Number Placeholder 5"/>
          <p:cNvSpPr>
            <a:spLocks noGrp="1"/>
          </p:cNvSpPr>
          <p:nvPr>
            <p:ph type="sldNum" sz="quarter" idx="12"/>
          </p:nvPr>
        </p:nvSpPr>
        <p:spPr>
          <a:xfrm>
            <a:off x="10952969" y="182562"/>
            <a:ext cx="770964" cy="365125"/>
          </a:xfrm>
        </p:spPr>
        <p:txBody>
          <a:bodyPr/>
          <a:lstStyle>
            <a:lvl1pPr>
              <a:defRPr sz="3200" b="1"/>
            </a:lvl1pPr>
          </a:lstStyle>
          <a:p>
            <a:fld id="{6732DEBC-3A3D-4A20-A97E-1DC1DBFA9CD8}" type="slidenum">
              <a:rPr kumimoji="1" lang="ja-JP" altLang="en-US" smtClean="0"/>
              <a:pPr/>
              <a:t>‹#›</a:t>
            </a:fld>
            <a:endParaRPr kumimoji="1" lang="ja-JP" altLang="en-US" dirty="0"/>
          </a:p>
        </p:txBody>
      </p:sp>
      <p:cxnSp>
        <p:nvCxnSpPr>
          <p:cNvPr id="8" name="直線コネクタ 7">
            <a:extLst>
              <a:ext uri="{FF2B5EF4-FFF2-40B4-BE49-F238E27FC236}">
                <a16:creationId xmlns:a16="http://schemas.microsoft.com/office/drawing/2014/main" id="{45278CFD-2C62-2CB8-0895-7648C91BA129}"/>
              </a:ext>
            </a:extLst>
          </p:cNvPr>
          <p:cNvCxnSpPr>
            <a:cxnSpLocks/>
          </p:cNvCxnSpPr>
          <p:nvPr userDrawn="1"/>
        </p:nvCxnSpPr>
        <p:spPr>
          <a:xfrm>
            <a:off x="838200" y="1307446"/>
            <a:ext cx="10515600" cy="0"/>
          </a:xfrm>
          <a:prstGeom prst="line">
            <a:avLst/>
          </a:prstGeom>
          <a:ln w="28575">
            <a:solidFill>
              <a:schemeClr val="accent1"/>
            </a:solidFill>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8060939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8E9D40D2-D4D0-4BD3-9BB0-2D775BDF9E9B}" type="datetime1">
              <a:rPr kumimoji="1" lang="ja-JP" altLang="en-US" smtClean="0"/>
              <a:t>2026/1/9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2476685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44833A6C-AD57-4F07-9D1F-119AF1AEE236}" type="datetime1">
              <a:rPr kumimoji="1" lang="ja-JP" altLang="en-US" smtClean="0"/>
              <a:t>2026/1/9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3156922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93A4DE1C-DFF9-41AB-8448-F400C43DE63A}" type="datetime1">
              <a:rPr kumimoji="1" lang="ja-JP" altLang="en-US" smtClean="0"/>
              <a:t>2026/1/9</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29969782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8DBC971-7CAB-49E0-8D82-A4757813DC7B}" type="datetime1">
              <a:rPr kumimoji="1" lang="ja-JP" altLang="en-US" smtClean="0"/>
              <a:t>2026/1/9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4114787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AAB5F4-5594-4718-AF33-E26B9563B377}" type="datetime1">
              <a:rPr kumimoji="1" lang="ja-JP" altLang="en-US" smtClean="0"/>
              <a:t>2026/1/9</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8992021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C2C144F-E9EE-4D8E-B9DC-0682BD7CE023}" type="datetime1">
              <a:rPr kumimoji="1" lang="ja-JP" altLang="en-US" smtClean="0"/>
              <a:t>2026/1/9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12431302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B764A0D-C1B8-4EFA-A2AA-96EC943E1F7E}" type="datetime1">
              <a:rPr kumimoji="1" lang="ja-JP" altLang="en-US" smtClean="0"/>
              <a:t>2026/1/9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13148455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FE0FA87-979C-4850-99CF-6DCAD735CAB6}" type="datetime1">
              <a:rPr kumimoji="1" lang="ja-JP" altLang="en-US" smtClean="0"/>
              <a:t>2026/1/9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8913900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54B7A69-7EAC-437F-953C-746762E85982}" type="datetime1">
              <a:rPr kumimoji="1" lang="ja-JP" altLang="en-US" smtClean="0"/>
              <a:t>2026/1/9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2DEBC-3A3D-4A20-A97E-1DC1DBFA9CD8}" type="slidenum">
              <a:rPr kumimoji="1" lang="ja-JP" altLang="en-US" smtClean="0"/>
              <a:t>‹#›</a:t>
            </a:fld>
            <a:endParaRPr kumimoji="1" lang="ja-JP" altLang="en-US"/>
          </a:p>
        </p:txBody>
      </p:sp>
    </p:spTree>
    <p:extLst>
      <p:ext uri="{BB962C8B-B14F-4D97-AF65-F5344CB8AC3E}">
        <p14:creationId xmlns:p14="http://schemas.microsoft.com/office/powerpoint/2010/main" val="3038749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65B3ABE2-A154-4C94-B35C-9CC9E86EC2F2}" type="datetime1">
              <a:rPr kumimoji="1" lang="ja-JP" altLang="en-US" smtClean="0"/>
              <a:t>2026/1/9</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6732DEBC-3A3D-4A20-A97E-1DC1DBFA9CD8}" type="slidenum">
              <a:rPr lang="ja-JP" altLang="en-US" smtClean="0"/>
              <a:pPr/>
              <a:t>‹#›</a:t>
            </a:fld>
            <a:endParaRPr lang="ja-JP" altLang="en-US"/>
          </a:p>
        </p:txBody>
      </p:sp>
    </p:spTree>
    <p:extLst>
      <p:ext uri="{BB962C8B-B14F-4D97-AF65-F5344CB8AC3E}">
        <p14:creationId xmlns:p14="http://schemas.microsoft.com/office/powerpoint/2010/main" val="21332552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B3ABE2-A154-4C94-B35C-9CC9E86EC2F2}" type="datetime1">
              <a:rPr kumimoji="1" lang="ja-JP" altLang="en-US" smtClean="0"/>
              <a:t>2026/1/9</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32DEBC-3A3D-4A20-A97E-1DC1DBFA9CD8}" type="slidenum">
              <a:rPr lang="ja-JP" altLang="en-US" smtClean="0"/>
              <a:pPr/>
              <a:t>‹#›</a:t>
            </a:fld>
            <a:endParaRPr lang="ja-JP" altLang="en-US"/>
          </a:p>
        </p:txBody>
      </p:sp>
    </p:spTree>
    <p:extLst>
      <p:ext uri="{BB962C8B-B14F-4D97-AF65-F5344CB8AC3E}">
        <p14:creationId xmlns:p14="http://schemas.microsoft.com/office/powerpoint/2010/main" val="242921543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hemeOverride" Target="../theme/themeOverride1.xml"/><Relationship Id="rId6" Type="http://schemas.openxmlformats.org/officeDocument/2006/relationships/image" Target="../media/image6.png"/><Relationship Id="rId5" Type="http://schemas.openxmlformats.org/officeDocument/2006/relationships/customXml" Target="../ink/ink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16.sv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4AE6E3-D6F6-BF0E-A3A9-5A99826CE687}"/>
              </a:ext>
            </a:extLst>
          </p:cNvPr>
          <p:cNvSpPr>
            <a:spLocks noGrp="1"/>
          </p:cNvSpPr>
          <p:nvPr>
            <p:ph type="ctrTitle"/>
          </p:nvPr>
        </p:nvSpPr>
        <p:spPr>
          <a:xfrm>
            <a:off x="247488" y="1062939"/>
            <a:ext cx="11697024" cy="2387600"/>
          </a:xfrm>
        </p:spPr>
        <p:txBody>
          <a:bodyPr>
            <a:normAutofit/>
          </a:bodyPr>
          <a:lstStyle/>
          <a:p>
            <a:r>
              <a:rPr lang="ja-JP" altLang="en-US" sz="4800" dirty="0"/>
              <a:t>ソーシャルメディア避難言論数と実際の避難人数のクロス災害分析</a:t>
            </a:r>
            <a:br>
              <a:rPr lang="en-US" altLang="ja-JP" sz="3200" dirty="0"/>
            </a:br>
            <a:r>
              <a:rPr lang="zh-CN" altLang="en-US" sz="3200" dirty="0"/>
              <a:t>～</a:t>
            </a:r>
            <a:r>
              <a:rPr lang="ja-JP" altLang="en-US" sz="3200" dirty="0"/>
              <a:t>地震災害の例として</a:t>
            </a:r>
            <a:endParaRPr kumimoji="1" lang="ja-JP" altLang="en-US" sz="3200" dirty="0"/>
          </a:p>
        </p:txBody>
      </p:sp>
      <p:sp>
        <p:nvSpPr>
          <p:cNvPr id="5" name="Subtitle 4">
            <a:extLst>
              <a:ext uri="{FF2B5EF4-FFF2-40B4-BE49-F238E27FC236}">
                <a16:creationId xmlns:a16="http://schemas.microsoft.com/office/drawing/2014/main" id="{AFD61AA0-8047-A81F-67B5-1AD1C76E9755}"/>
              </a:ext>
            </a:extLst>
          </p:cNvPr>
          <p:cNvSpPr>
            <a:spLocks noGrp="1"/>
          </p:cNvSpPr>
          <p:nvPr>
            <p:ph type="subTitle" idx="1"/>
          </p:nvPr>
        </p:nvSpPr>
        <p:spPr>
          <a:xfrm>
            <a:off x="1524000" y="3621088"/>
            <a:ext cx="9144000" cy="1655762"/>
          </a:xfrm>
        </p:spPr>
        <p:txBody>
          <a:bodyPr/>
          <a:lstStyle/>
          <a:p>
            <a:r>
              <a:rPr lang="ja-JP" altLang="en-US" dirty="0">
                <a:solidFill>
                  <a:schemeClr val="accent1"/>
                </a:solidFill>
              </a:rPr>
              <a:t>　関名展</a:t>
            </a:r>
            <a:endParaRPr lang="en-JP" dirty="0">
              <a:solidFill>
                <a:schemeClr val="accent1"/>
              </a:solidFill>
            </a:endParaRPr>
          </a:p>
        </p:txBody>
      </p:sp>
    </p:spTree>
    <p:extLst>
      <p:ext uri="{BB962C8B-B14F-4D97-AF65-F5344CB8AC3E}">
        <p14:creationId xmlns:p14="http://schemas.microsoft.com/office/powerpoint/2010/main" val="1390344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29C2435B-60A8-FBAF-B435-F6A2BA0E5B42}"/>
              </a:ext>
            </a:extLst>
          </p:cNvPr>
          <p:cNvSpPr/>
          <p:nvPr/>
        </p:nvSpPr>
        <p:spPr>
          <a:xfrm>
            <a:off x="247421" y="2595133"/>
            <a:ext cx="11631562" cy="4063437"/>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17AC8-36FA-93CC-7E2A-467CD17ED947}"/>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581159BE-A3A5-94C9-B350-9DE71FE2D26E}"/>
              </a:ext>
            </a:extLst>
          </p:cNvPr>
          <p:cNvSpPr>
            <a:spLocks noGrp="1"/>
          </p:cNvSpPr>
          <p:nvPr>
            <p:ph idx="1"/>
          </p:nvPr>
        </p:nvSpPr>
        <p:spPr>
          <a:xfrm>
            <a:off x="838200" y="1732367"/>
            <a:ext cx="10515600" cy="1220334"/>
          </a:xfrm>
        </p:spPr>
        <p:txBody>
          <a:bodyPr>
            <a:normAutofit fontScale="92500" lnSpcReduction="20000"/>
          </a:bodyPr>
          <a:lstStyle/>
          <a:p>
            <a:pPr marL="0" indent="0">
              <a:buNone/>
            </a:pPr>
            <a:r>
              <a:rPr lang="ja-JP" altLang="en-US" dirty="0"/>
              <a:t>　</a:t>
            </a:r>
            <a:r>
              <a:rPr lang="ja-JP" altLang="en-US" sz="2400" dirty="0"/>
              <a:t>災害発生時における避難状況のリアルタイム把握は重要</a:t>
            </a:r>
            <a:r>
              <a:rPr lang="zh-CN" altLang="en-US" sz="2400" dirty="0"/>
              <a:t>（救援资源分配）</a:t>
            </a:r>
            <a:r>
              <a:rPr lang="ja-JP" altLang="en-US" sz="2400" dirty="0"/>
              <a:t>。</a:t>
            </a:r>
            <a:endParaRPr lang="en-US" altLang="ja-JP" sz="2400" dirty="0"/>
          </a:p>
          <a:p>
            <a:pPr marL="0" indent="0">
              <a:buNone/>
            </a:pPr>
            <a:r>
              <a:rPr lang="en-US" altLang="ja-JP" sz="2400" dirty="0">
                <a:solidFill>
                  <a:srgbClr val="FF0000"/>
                </a:solidFill>
              </a:rPr>
              <a:t>-&gt; </a:t>
            </a:r>
            <a:r>
              <a:rPr lang="ja-JP" altLang="en-US" sz="2400" dirty="0">
                <a:solidFill>
                  <a:srgbClr val="FF0000"/>
                </a:solidFill>
              </a:rPr>
              <a:t>従来の事後統計は集計までに時間を要する</a:t>
            </a:r>
            <a:endParaRPr lang="en-US" altLang="ja-JP" sz="2400" dirty="0">
              <a:solidFill>
                <a:srgbClr val="FF0000"/>
              </a:solidFill>
            </a:endParaRPr>
          </a:p>
          <a:p>
            <a:pPr marL="0" indent="0">
              <a:buNone/>
            </a:pPr>
            <a:r>
              <a:rPr lang="ja-JP" altLang="en-US" dirty="0"/>
              <a:t>　</a:t>
            </a:r>
            <a:endParaRPr lang="en-US" altLang="ja-JP" dirty="0"/>
          </a:p>
          <a:p>
            <a:pPr marL="0" indent="0">
              <a:buNone/>
            </a:pPr>
            <a:endParaRPr lang="en-US" dirty="0"/>
          </a:p>
        </p:txBody>
      </p:sp>
      <p:sp>
        <p:nvSpPr>
          <p:cNvPr id="4" name="Slide Number Placeholder 3">
            <a:extLst>
              <a:ext uri="{FF2B5EF4-FFF2-40B4-BE49-F238E27FC236}">
                <a16:creationId xmlns:a16="http://schemas.microsoft.com/office/drawing/2014/main" id="{3FC253D4-7486-C10D-A5CF-19F3888040BE}"/>
              </a:ext>
            </a:extLst>
          </p:cNvPr>
          <p:cNvSpPr>
            <a:spLocks noGrp="1"/>
          </p:cNvSpPr>
          <p:nvPr>
            <p:ph type="sldNum" sz="quarter" idx="12"/>
          </p:nvPr>
        </p:nvSpPr>
        <p:spPr/>
        <p:txBody>
          <a:bodyPr/>
          <a:lstStyle/>
          <a:p>
            <a:fld id="{6732DEBC-3A3D-4A20-A97E-1DC1DBFA9CD8}" type="slidenum">
              <a:rPr kumimoji="1" lang="ja-JP" altLang="en-US" smtClean="0"/>
              <a:pPr/>
              <a:t>2</a:t>
            </a:fld>
            <a:endParaRPr kumimoji="1" lang="ja-JP" altLang="en-US" dirty="0"/>
          </a:p>
        </p:txBody>
      </p:sp>
      <p:sp>
        <p:nvSpPr>
          <p:cNvPr id="8" name="TextBox 7">
            <a:extLst>
              <a:ext uri="{FF2B5EF4-FFF2-40B4-BE49-F238E27FC236}">
                <a16:creationId xmlns:a16="http://schemas.microsoft.com/office/drawing/2014/main" id="{B0B0D8C3-2698-C5E5-4066-46DDC918B220}"/>
              </a:ext>
            </a:extLst>
          </p:cNvPr>
          <p:cNvSpPr txBox="1"/>
          <p:nvPr/>
        </p:nvSpPr>
        <p:spPr>
          <a:xfrm>
            <a:off x="2669297" y="6366265"/>
            <a:ext cx="3947057" cy="369332"/>
          </a:xfrm>
          <a:prstGeom prst="rect">
            <a:avLst/>
          </a:prstGeom>
          <a:noFill/>
        </p:spPr>
        <p:txBody>
          <a:bodyPr wrap="square">
            <a:spAutoFit/>
          </a:bodyPr>
          <a:lstStyle/>
          <a:p>
            <a:r>
              <a:rPr lang="ja-JP" altLang="en-US" b="1" dirty="0"/>
              <a:t>実</a:t>
            </a:r>
            <a:r>
              <a:rPr lang="en-US" altLang="ja-JP" b="1" dirty="0"/>
              <a:t>Twitter</a:t>
            </a:r>
            <a:r>
              <a:rPr lang="ja-JP" altLang="en-US" b="1" dirty="0"/>
              <a:t>の例</a:t>
            </a:r>
            <a:endParaRPr lang="en-US" altLang="ja-JP" b="1" dirty="0"/>
          </a:p>
        </p:txBody>
      </p:sp>
      <p:sp>
        <p:nvSpPr>
          <p:cNvPr id="17" name="矩形 16">
            <a:extLst>
              <a:ext uri="{FF2B5EF4-FFF2-40B4-BE49-F238E27FC236}">
                <a16:creationId xmlns:a16="http://schemas.microsoft.com/office/drawing/2014/main" id="{8E954641-C7D7-4396-8F23-01B6D6A062C0}"/>
              </a:ext>
            </a:extLst>
          </p:cNvPr>
          <p:cNvSpPr/>
          <p:nvPr/>
        </p:nvSpPr>
        <p:spPr>
          <a:xfrm>
            <a:off x="626293" y="3151627"/>
            <a:ext cx="5459181" cy="323858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0" name="TextBox 9">
            <a:extLst>
              <a:ext uri="{FF2B5EF4-FFF2-40B4-BE49-F238E27FC236}">
                <a16:creationId xmlns:a16="http://schemas.microsoft.com/office/drawing/2014/main" id="{AB0007AA-413F-292B-6EC3-02AE4F750AAF}"/>
              </a:ext>
            </a:extLst>
          </p:cNvPr>
          <p:cNvSpPr txBox="1"/>
          <p:nvPr/>
        </p:nvSpPr>
        <p:spPr>
          <a:xfrm>
            <a:off x="9386213" y="5555743"/>
            <a:ext cx="2173164" cy="369332"/>
          </a:xfrm>
          <a:prstGeom prst="rect">
            <a:avLst/>
          </a:prstGeom>
          <a:noFill/>
        </p:spPr>
        <p:txBody>
          <a:bodyPr wrap="square">
            <a:spAutoFit/>
          </a:bodyPr>
          <a:lstStyle/>
          <a:p>
            <a:endParaRPr lang="en-US" dirty="0"/>
          </a:p>
        </p:txBody>
      </p:sp>
      <p:sp>
        <p:nvSpPr>
          <p:cNvPr id="19" name="Arrow: Right 5">
            <a:extLst>
              <a:ext uri="{FF2B5EF4-FFF2-40B4-BE49-F238E27FC236}">
                <a16:creationId xmlns:a16="http://schemas.microsoft.com/office/drawing/2014/main" id="{A7FFC563-17C2-456F-B4DF-A555DC2B7981}"/>
              </a:ext>
            </a:extLst>
          </p:cNvPr>
          <p:cNvSpPr/>
          <p:nvPr/>
        </p:nvSpPr>
        <p:spPr>
          <a:xfrm>
            <a:off x="8645854" y="4310357"/>
            <a:ext cx="862579" cy="753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图片 22">
            <a:extLst>
              <a:ext uri="{FF2B5EF4-FFF2-40B4-BE49-F238E27FC236}">
                <a16:creationId xmlns:a16="http://schemas.microsoft.com/office/drawing/2014/main" id="{42F692EA-38EB-43A4-8808-19A523E38FDA}"/>
              </a:ext>
            </a:extLst>
          </p:cNvPr>
          <p:cNvPicPr>
            <a:picLocks noChangeAspect="1"/>
          </p:cNvPicPr>
          <p:nvPr/>
        </p:nvPicPr>
        <p:blipFill rotWithShape="1">
          <a:blip r:embed="rId3">
            <a:extLst>
              <a:ext uri="{28A0092B-C50C-407E-A947-70E740481C1C}">
                <a14:useLocalDpi xmlns:a14="http://schemas.microsoft.com/office/drawing/2010/main" val="0"/>
              </a:ext>
            </a:extLst>
          </a:blip>
          <a:srcRect l="9880" r="37359" b="71578"/>
          <a:stretch/>
        </p:blipFill>
        <p:spPr>
          <a:xfrm>
            <a:off x="843695" y="3304184"/>
            <a:ext cx="3109636" cy="1769985"/>
          </a:xfrm>
          <a:prstGeom prst="rect">
            <a:avLst/>
          </a:prstGeom>
        </p:spPr>
      </p:pic>
      <p:pic>
        <p:nvPicPr>
          <p:cNvPr id="21" name="图片 20">
            <a:extLst>
              <a:ext uri="{FF2B5EF4-FFF2-40B4-BE49-F238E27FC236}">
                <a16:creationId xmlns:a16="http://schemas.microsoft.com/office/drawing/2014/main" id="{83D217AB-CCF1-46BE-A4D9-513C0E34BE6F}"/>
              </a:ext>
            </a:extLst>
          </p:cNvPr>
          <p:cNvPicPr>
            <a:picLocks noChangeAspect="1"/>
          </p:cNvPicPr>
          <p:nvPr/>
        </p:nvPicPr>
        <p:blipFill rotWithShape="1">
          <a:blip r:embed="rId4">
            <a:extLst>
              <a:ext uri="{28A0092B-C50C-407E-A947-70E740481C1C}">
                <a14:useLocalDpi xmlns:a14="http://schemas.microsoft.com/office/drawing/2010/main" val="0"/>
              </a:ext>
            </a:extLst>
          </a:blip>
          <a:srcRect l="8563" b="42921"/>
          <a:stretch/>
        </p:blipFill>
        <p:spPr>
          <a:xfrm>
            <a:off x="848553" y="5074169"/>
            <a:ext cx="4976711" cy="1250286"/>
          </a:xfrm>
          <a:prstGeom prst="rect">
            <a:avLst/>
          </a:prstGeom>
        </p:spPr>
      </p:pic>
      <p:sp>
        <p:nvSpPr>
          <p:cNvPr id="7" name="矩形 6">
            <a:extLst>
              <a:ext uri="{FF2B5EF4-FFF2-40B4-BE49-F238E27FC236}">
                <a16:creationId xmlns:a16="http://schemas.microsoft.com/office/drawing/2014/main" id="{7EBB72D7-DE9A-44CF-B9CF-7FA2DF8B3097}"/>
              </a:ext>
            </a:extLst>
          </p:cNvPr>
          <p:cNvSpPr/>
          <p:nvPr/>
        </p:nvSpPr>
        <p:spPr>
          <a:xfrm>
            <a:off x="1148709" y="3581675"/>
            <a:ext cx="580119" cy="29251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6" name="矩形 15">
            <a:extLst>
              <a:ext uri="{FF2B5EF4-FFF2-40B4-BE49-F238E27FC236}">
                <a16:creationId xmlns:a16="http://schemas.microsoft.com/office/drawing/2014/main" id="{D5EF70F3-AAD5-40F6-81AB-DFB672EAF7B1}"/>
              </a:ext>
            </a:extLst>
          </p:cNvPr>
          <p:cNvSpPr/>
          <p:nvPr/>
        </p:nvSpPr>
        <p:spPr>
          <a:xfrm>
            <a:off x="1438768" y="3960266"/>
            <a:ext cx="1340003" cy="292510"/>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0" name="矩形 19">
            <a:extLst>
              <a:ext uri="{FF2B5EF4-FFF2-40B4-BE49-F238E27FC236}">
                <a16:creationId xmlns:a16="http://schemas.microsoft.com/office/drawing/2014/main" id="{FAF88C96-2A24-44B2-AD17-B97A1EE391A5}"/>
              </a:ext>
            </a:extLst>
          </p:cNvPr>
          <p:cNvSpPr/>
          <p:nvPr/>
        </p:nvSpPr>
        <p:spPr>
          <a:xfrm>
            <a:off x="676329" y="5256856"/>
            <a:ext cx="909403" cy="292510"/>
          </a:xfrm>
          <a:prstGeom prst="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矩形 21">
            <a:extLst>
              <a:ext uri="{FF2B5EF4-FFF2-40B4-BE49-F238E27FC236}">
                <a16:creationId xmlns:a16="http://schemas.microsoft.com/office/drawing/2014/main" id="{C5725556-B988-44C2-993C-EBA24B6B4D01}"/>
              </a:ext>
            </a:extLst>
          </p:cNvPr>
          <p:cNvSpPr/>
          <p:nvPr/>
        </p:nvSpPr>
        <p:spPr>
          <a:xfrm>
            <a:off x="4861366" y="5758004"/>
            <a:ext cx="941625" cy="292510"/>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矩形 23">
            <a:extLst>
              <a:ext uri="{FF2B5EF4-FFF2-40B4-BE49-F238E27FC236}">
                <a16:creationId xmlns:a16="http://schemas.microsoft.com/office/drawing/2014/main" id="{48E52180-7960-4482-9600-7F3A43415A79}"/>
              </a:ext>
            </a:extLst>
          </p:cNvPr>
          <p:cNvSpPr/>
          <p:nvPr/>
        </p:nvSpPr>
        <p:spPr>
          <a:xfrm>
            <a:off x="676330" y="5965468"/>
            <a:ext cx="1059264" cy="292510"/>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2" name="TextBox 11">
            <a:extLst>
              <a:ext uri="{FF2B5EF4-FFF2-40B4-BE49-F238E27FC236}">
                <a16:creationId xmlns:a16="http://schemas.microsoft.com/office/drawing/2014/main" id="{295C63D4-75E2-8E19-1490-E504C4E6D50D}"/>
              </a:ext>
            </a:extLst>
          </p:cNvPr>
          <p:cNvSpPr txBox="1"/>
          <p:nvPr/>
        </p:nvSpPr>
        <p:spPr>
          <a:xfrm>
            <a:off x="3561308" y="2768035"/>
            <a:ext cx="5375872" cy="369332"/>
          </a:xfrm>
          <a:prstGeom prst="rect">
            <a:avLst/>
          </a:prstGeom>
          <a:noFill/>
        </p:spPr>
        <p:txBody>
          <a:bodyPr wrap="square" rtlCol="0">
            <a:spAutoFit/>
          </a:bodyPr>
          <a:lstStyle/>
          <a:p>
            <a:r>
              <a:rPr lang="en-US" altLang="ja-JP" dirty="0"/>
              <a:t>Twitter</a:t>
            </a:r>
            <a:r>
              <a:rPr lang="ja-JP" altLang="en-US" dirty="0"/>
              <a:t>にはリアルタイム情報はいっぱいある</a:t>
            </a:r>
            <a:endParaRPr lang="en-US" dirty="0"/>
          </a:p>
        </p:txBody>
      </p:sp>
      <p:grpSp>
        <p:nvGrpSpPr>
          <p:cNvPr id="25" name="组合 24">
            <a:extLst>
              <a:ext uri="{FF2B5EF4-FFF2-40B4-BE49-F238E27FC236}">
                <a16:creationId xmlns:a16="http://schemas.microsoft.com/office/drawing/2014/main" id="{EBF180D6-23D4-4DB7-B7B1-CBE8F0186903}"/>
              </a:ext>
            </a:extLst>
          </p:cNvPr>
          <p:cNvGrpSpPr/>
          <p:nvPr/>
        </p:nvGrpSpPr>
        <p:grpSpPr>
          <a:xfrm>
            <a:off x="9466141" y="3851010"/>
            <a:ext cx="2301148" cy="1938161"/>
            <a:chOff x="10626156" y="2596507"/>
            <a:chExt cx="1408551" cy="1142149"/>
          </a:xfrm>
        </p:grpSpPr>
        <p:sp>
          <p:nvSpPr>
            <p:cNvPr id="26" name="TextBox 15">
              <a:extLst>
                <a:ext uri="{FF2B5EF4-FFF2-40B4-BE49-F238E27FC236}">
                  <a16:creationId xmlns:a16="http://schemas.microsoft.com/office/drawing/2014/main" id="{4DE07013-E9E6-47B0-84E4-F4B20AC29854}"/>
                </a:ext>
              </a:extLst>
            </p:cNvPr>
            <p:cNvSpPr txBox="1"/>
            <p:nvPr/>
          </p:nvSpPr>
          <p:spPr>
            <a:xfrm>
              <a:off x="10652043" y="3369324"/>
              <a:ext cx="1382664" cy="369332"/>
            </a:xfrm>
            <a:prstGeom prst="rect">
              <a:avLst/>
            </a:prstGeom>
            <a:noFill/>
          </p:spPr>
          <p:txBody>
            <a:bodyPr wrap="square" rtlCol="0">
              <a:spAutoFit/>
            </a:bodyPr>
            <a:lstStyle/>
            <a:p>
              <a:r>
                <a:rPr lang="en-US" altLang="zh-CN" b="1" dirty="0"/>
                <a:t>Government</a:t>
              </a:r>
              <a:endParaRPr lang="en-US" b="1" dirty="0"/>
            </a:p>
          </p:txBody>
        </p:sp>
        <p:pic>
          <p:nvPicPr>
            <p:cNvPr id="27" name="图形 26" descr="银行 纯色填充">
              <a:extLst>
                <a:ext uri="{FF2B5EF4-FFF2-40B4-BE49-F238E27FC236}">
                  <a16:creationId xmlns:a16="http://schemas.microsoft.com/office/drawing/2014/main" id="{04E32753-760F-4BBC-ADBC-5C2C6473184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26156" y="2596507"/>
              <a:ext cx="914400" cy="914400"/>
            </a:xfrm>
            <a:prstGeom prst="rect">
              <a:avLst/>
            </a:prstGeom>
          </p:spPr>
        </p:pic>
      </p:grpSp>
      <p:sp>
        <p:nvSpPr>
          <p:cNvPr id="13" name="矩形 12">
            <a:extLst>
              <a:ext uri="{FF2B5EF4-FFF2-40B4-BE49-F238E27FC236}">
                <a16:creationId xmlns:a16="http://schemas.microsoft.com/office/drawing/2014/main" id="{18EBC4B7-85AE-46CC-8F1B-35670E34E57E}"/>
              </a:ext>
            </a:extLst>
          </p:cNvPr>
          <p:cNvSpPr/>
          <p:nvPr/>
        </p:nvSpPr>
        <p:spPr>
          <a:xfrm>
            <a:off x="9282110" y="5457251"/>
            <a:ext cx="1878006" cy="4543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t>避難状況の把握</a:t>
            </a:r>
            <a:endParaRPr lang="en-US" altLang="zh-CN" b="1" dirty="0"/>
          </a:p>
        </p:txBody>
      </p:sp>
      <p:sp>
        <p:nvSpPr>
          <p:cNvPr id="15" name="矩形 14">
            <a:extLst>
              <a:ext uri="{FF2B5EF4-FFF2-40B4-BE49-F238E27FC236}">
                <a16:creationId xmlns:a16="http://schemas.microsoft.com/office/drawing/2014/main" id="{4F708989-138C-4E88-A3CD-B0CB2235C935}"/>
              </a:ext>
            </a:extLst>
          </p:cNvPr>
          <p:cNvSpPr/>
          <p:nvPr/>
        </p:nvSpPr>
        <p:spPr>
          <a:xfrm>
            <a:off x="6713251" y="3417013"/>
            <a:ext cx="1785977" cy="63983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eiryo" panose="020B0604030504040204" pitchFamily="34" charset="-128"/>
                <a:ea typeface="Meiryo" panose="020B0604030504040204" pitchFamily="34" charset="-128"/>
              </a:rPr>
              <a:t>1.</a:t>
            </a:r>
            <a:r>
              <a:rPr lang="zh-CN" altLang="en-US" b="1" dirty="0">
                <a:latin typeface="Meiryo" panose="020B0604030504040204" pitchFamily="34" charset="-128"/>
                <a:ea typeface="Meiryo" panose="020B0604030504040204" pitchFamily="34" charset="-128"/>
              </a:rPr>
              <a:t>発災地点</a:t>
            </a:r>
          </a:p>
        </p:txBody>
      </p:sp>
      <p:sp>
        <p:nvSpPr>
          <p:cNvPr id="29" name="矩形 28">
            <a:extLst>
              <a:ext uri="{FF2B5EF4-FFF2-40B4-BE49-F238E27FC236}">
                <a16:creationId xmlns:a16="http://schemas.microsoft.com/office/drawing/2014/main" id="{9C0E8D00-5D80-42EC-A347-FB8D965F3607}"/>
              </a:ext>
            </a:extLst>
          </p:cNvPr>
          <p:cNvSpPr/>
          <p:nvPr/>
        </p:nvSpPr>
        <p:spPr>
          <a:xfrm>
            <a:off x="6713251" y="4049760"/>
            <a:ext cx="1785977" cy="639833"/>
          </a:xfrm>
          <a:prstGeom prst="rect">
            <a:avLst/>
          </a:prstGeom>
          <a:solidFill>
            <a:srgbClr val="FFFF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ja-JP" b="1" dirty="0">
                <a:solidFill>
                  <a:schemeClr val="tx1"/>
                </a:solidFill>
              </a:rPr>
              <a:t>2.</a:t>
            </a:r>
            <a:r>
              <a:rPr lang="ja-JP" altLang="en-US" b="1" dirty="0">
                <a:solidFill>
                  <a:schemeClr val="tx1"/>
                </a:solidFill>
              </a:rPr>
              <a:t>避難喚起</a:t>
            </a:r>
          </a:p>
        </p:txBody>
      </p:sp>
      <p:sp>
        <p:nvSpPr>
          <p:cNvPr id="30" name="矩形 29">
            <a:extLst>
              <a:ext uri="{FF2B5EF4-FFF2-40B4-BE49-F238E27FC236}">
                <a16:creationId xmlns:a16="http://schemas.microsoft.com/office/drawing/2014/main" id="{8A70EF27-49F6-4C85-B7EB-14F57F3B7CBF}"/>
              </a:ext>
            </a:extLst>
          </p:cNvPr>
          <p:cNvSpPr/>
          <p:nvPr/>
        </p:nvSpPr>
        <p:spPr>
          <a:xfrm>
            <a:off x="6713251" y="4686986"/>
            <a:ext cx="1785977" cy="639833"/>
          </a:xfrm>
          <a:prstGeom prst="rect">
            <a:avLst/>
          </a:prstGeom>
          <a:solidFill>
            <a:srgbClr val="FFC00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ja-JP" b="1" dirty="0">
                <a:solidFill>
                  <a:schemeClr val="tx1"/>
                </a:solidFill>
              </a:rPr>
              <a:t>3.</a:t>
            </a:r>
            <a:r>
              <a:rPr lang="ja-JP" altLang="en-US" b="1" dirty="0">
                <a:solidFill>
                  <a:schemeClr val="tx1"/>
                </a:solidFill>
              </a:rPr>
              <a:t>震度</a:t>
            </a:r>
            <a:endParaRPr lang="en-US" altLang="ja-JP" b="1" dirty="0">
              <a:solidFill>
                <a:schemeClr val="tx1"/>
              </a:solidFill>
            </a:endParaRPr>
          </a:p>
        </p:txBody>
      </p:sp>
      <p:sp>
        <p:nvSpPr>
          <p:cNvPr id="31" name="矩形 30">
            <a:extLst>
              <a:ext uri="{FF2B5EF4-FFF2-40B4-BE49-F238E27FC236}">
                <a16:creationId xmlns:a16="http://schemas.microsoft.com/office/drawing/2014/main" id="{3CC06C9C-DC9C-434B-874B-396F9B6D07C5}"/>
              </a:ext>
            </a:extLst>
          </p:cNvPr>
          <p:cNvSpPr/>
          <p:nvPr/>
        </p:nvSpPr>
        <p:spPr>
          <a:xfrm>
            <a:off x="6713250" y="5326819"/>
            <a:ext cx="1785977" cy="639833"/>
          </a:xfrm>
          <a:prstGeom prst="rect">
            <a:avLst/>
          </a:prstGeom>
          <a:solidFill>
            <a:srgbClr val="92D05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b="1" dirty="0">
                <a:solidFill>
                  <a:schemeClr val="tx1"/>
                </a:solidFill>
                <a:latin typeface="Meiryo" panose="020B0604030504040204" pitchFamily="34" charset="-128"/>
                <a:ea typeface="Meiryo" panose="020B0604030504040204" pitchFamily="34" charset="-128"/>
              </a:rPr>
              <a:t>4.</a:t>
            </a:r>
            <a:r>
              <a:rPr lang="zh-CN" altLang="en-US" b="1" dirty="0">
                <a:solidFill>
                  <a:schemeClr val="tx1"/>
                </a:solidFill>
                <a:latin typeface="Meiryo" panose="020B0604030504040204" pitchFamily="34" charset="-128"/>
                <a:ea typeface="Meiryo" panose="020B0604030504040204" pitchFamily="34" charset="-128"/>
              </a:rPr>
              <a:t>避難行動</a:t>
            </a:r>
            <a:endParaRPr lang="en-US" altLang="ja-JP" b="1" dirty="0">
              <a:solidFill>
                <a:schemeClr val="tx1"/>
              </a:solidFill>
              <a:latin typeface="Meiryo" panose="020B0604030504040204" pitchFamily="34" charset="-128"/>
              <a:ea typeface="Meiryo" panose="020B0604030504040204" pitchFamily="34" charset="-128"/>
            </a:endParaRPr>
          </a:p>
        </p:txBody>
      </p:sp>
      <p:grpSp>
        <p:nvGrpSpPr>
          <p:cNvPr id="35" name="组合 34">
            <a:extLst>
              <a:ext uri="{FF2B5EF4-FFF2-40B4-BE49-F238E27FC236}">
                <a16:creationId xmlns:a16="http://schemas.microsoft.com/office/drawing/2014/main" id="{CFF3BECC-D2F2-4B75-B779-4716E78BD092}"/>
              </a:ext>
            </a:extLst>
          </p:cNvPr>
          <p:cNvGrpSpPr/>
          <p:nvPr/>
        </p:nvGrpSpPr>
        <p:grpSpPr>
          <a:xfrm>
            <a:off x="5710688" y="3596629"/>
            <a:ext cx="963648" cy="2168601"/>
            <a:chOff x="5653627" y="3607143"/>
            <a:chExt cx="963648" cy="2168601"/>
          </a:xfrm>
        </p:grpSpPr>
        <p:sp>
          <p:nvSpPr>
            <p:cNvPr id="6" name="Arrow: Right 5">
              <a:extLst>
                <a:ext uri="{FF2B5EF4-FFF2-40B4-BE49-F238E27FC236}">
                  <a16:creationId xmlns:a16="http://schemas.microsoft.com/office/drawing/2014/main" id="{71705C9C-B846-658A-705A-31033109FD6C}"/>
                </a:ext>
              </a:extLst>
            </p:cNvPr>
            <p:cNvSpPr/>
            <p:nvPr/>
          </p:nvSpPr>
          <p:spPr>
            <a:xfrm>
              <a:off x="5653627" y="3607143"/>
              <a:ext cx="942042" cy="258018"/>
            </a:xfrm>
            <a:prstGeom prst="rightArrow">
              <a:avLst>
                <a:gd name="adj1" fmla="val 50000"/>
                <a:gd name="adj2" fmla="val 4168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Arrow: Right 5">
              <a:extLst>
                <a:ext uri="{FF2B5EF4-FFF2-40B4-BE49-F238E27FC236}">
                  <a16:creationId xmlns:a16="http://schemas.microsoft.com/office/drawing/2014/main" id="{F83A598D-2CFF-4299-8EE5-6B8F52E67701}"/>
                </a:ext>
              </a:extLst>
            </p:cNvPr>
            <p:cNvSpPr/>
            <p:nvPr/>
          </p:nvSpPr>
          <p:spPr>
            <a:xfrm>
              <a:off x="5673452" y="4240667"/>
              <a:ext cx="941625" cy="258018"/>
            </a:xfrm>
            <a:prstGeom prst="rightArrow">
              <a:avLst>
                <a:gd name="adj1" fmla="val 50000"/>
                <a:gd name="adj2" fmla="val 4168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Arrow: Right 5">
              <a:extLst>
                <a:ext uri="{FF2B5EF4-FFF2-40B4-BE49-F238E27FC236}">
                  <a16:creationId xmlns:a16="http://schemas.microsoft.com/office/drawing/2014/main" id="{331ED276-B2B9-42CE-95ED-A2377ECBE77A}"/>
                </a:ext>
              </a:extLst>
            </p:cNvPr>
            <p:cNvSpPr/>
            <p:nvPr/>
          </p:nvSpPr>
          <p:spPr>
            <a:xfrm>
              <a:off x="5673451" y="4874191"/>
              <a:ext cx="941625" cy="258018"/>
            </a:xfrm>
            <a:prstGeom prst="rightArrow">
              <a:avLst>
                <a:gd name="adj1" fmla="val 50000"/>
                <a:gd name="adj2" fmla="val 4168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Arrow: Right 5">
              <a:extLst>
                <a:ext uri="{FF2B5EF4-FFF2-40B4-BE49-F238E27FC236}">
                  <a16:creationId xmlns:a16="http://schemas.microsoft.com/office/drawing/2014/main" id="{47C94EB9-48D3-4979-AA61-2CC6A7220227}"/>
                </a:ext>
              </a:extLst>
            </p:cNvPr>
            <p:cNvSpPr/>
            <p:nvPr/>
          </p:nvSpPr>
          <p:spPr>
            <a:xfrm>
              <a:off x="5675650" y="5517726"/>
              <a:ext cx="941625" cy="258018"/>
            </a:xfrm>
            <a:prstGeom prst="rightArrow">
              <a:avLst>
                <a:gd name="adj1" fmla="val 50000"/>
                <a:gd name="adj2" fmla="val 4168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09451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5602F78-D07C-54DE-C78F-CFE2F80F18CA}"/>
              </a:ext>
            </a:extLst>
          </p:cNvPr>
          <p:cNvPicPr>
            <a:picLocks noChangeAspect="1"/>
          </p:cNvPicPr>
          <p:nvPr/>
        </p:nvPicPr>
        <p:blipFill rotWithShape="1">
          <a:blip r:embed="rId4"/>
          <a:srcRect l="4036" t="2879" r="5837" b="8762"/>
          <a:stretch/>
        </p:blipFill>
        <p:spPr>
          <a:xfrm>
            <a:off x="157493" y="1902692"/>
            <a:ext cx="9110484" cy="4165912"/>
          </a:xfrm>
          <a:prstGeom prst="rect">
            <a:avLst/>
          </a:prstGeom>
        </p:spPr>
      </p:pic>
      <p:sp>
        <p:nvSpPr>
          <p:cNvPr id="2" name="Title 1">
            <a:extLst>
              <a:ext uri="{FF2B5EF4-FFF2-40B4-BE49-F238E27FC236}">
                <a16:creationId xmlns:a16="http://schemas.microsoft.com/office/drawing/2014/main" id="{BE0FE681-3D53-D111-57B6-5DD1EC1F3F84}"/>
              </a:ext>
            </a:extLst>
          </p:cNvPr>
          <p:cNvSpPr>
            <a:spLocks noGrp="1"/>
          </p:cNvSpPr>
          <p:nvPr>
            <p:ph type="title"/>
          </p:nvPr>
        </p:nvSpPr>
        <p:spPr/>
        <p:txBody>
          <a:bodyPr/>
          <a:lstStyle/>
          <a:p>
            <a:r>
              <a:rPr lang="ja-JP" altLang="en-US" dirty="0"/>
              <a:t>先行研究</a:t>
            </a:r>
            <a:endParaRPr lang="en-US" dirty="0"/>
          </a:p>
        </p:txBody>
      </p:sp>
      <p:sp>
        <p:nvSpPr>
          <p:cNvPr id="4" name="Slide Number Placeholder 3">
            <a:extLst>
              <a:ext uri="{FF2B5EF4-FFF2-40B4-BE49-F238E27FC236}">
                <a16:creationId xmlns:a16="http://schemas.microsoft.com/office/drawing/2014/main" id="{0B1B6401-CC64-41FF-5F34-45CB1495685F}"/>
              </a:ext>
            </a:extLst>
          </p:cNvPr>
          <p:cNvSpPr>
            <a:spLocks noGrp="1"/>
          </p:cNvSpPr>
          <p:nvPr>
            <p:ph type="sldNum" sz="quarter" idx="12"/>
          </p:nvPr>
        </p:nvSpPr>
        <p:spPr/>
        <p:txBody>
          <a:bodyPr/>
          <a:lstStyle/>
          <a:p>
            <a:fld id="{6732DEBC-3A3D-4A20-A97E-1DC1DBFA9CD8}" type="slidenum">
              <a:rPr kumimoji="1" lang="ja-JP" altLang="en-US" smtClean="0"/>
              <a:pPr/>
              <a:t>3</a:t>
            </a:fld>
            <a:endParaRPr kumimoji="1" lang="ja-JP" altLang="en-US" dirty="0"/>
          </a:p>
        </p:txBody>
      </p:sp>
      <p:sp>
        <p:nvSpPr>
          <p:cNvPr id="9" name="TextBox 8">
            <a:extLst>
              <a:ext uri="{FF2B5EF4-FFF2-40B4-BE49-F238E27FC236}">
                <a16:creationId xmlns:a16="http://schemas.microsoft.com/office/drawing/2014/main" id="{91726F51-772F-EC92-8B88-35CCB8C75467}"/>
              </a:ext>
            </a:extLst>
          </p:cNvPr>
          <p:cNvSpPr txBox="1"/>
          <p:nvPr/>
        </p:nvSpPr>
        <p:spPr>
          <a:xfrm>
            <a:off x="870914" y="6453805"/>
            <a:ext cx="10616381" cy="253916"/>
          </a:xfrm>
          <a:prstGeom prst="rect">
            <a:avLst/>
          </a:prstGeom>
          <a:noFill/>
        </p:spPr>
        <p:txBody>
          <a:bodyPr wrap="square">
            <a:spAutoFit/>
          </a:bodyPr>
          <a:lstStyle/>
          <a:p>
            <a:r>
              <a:rPr lang="en-US" altLang="zh-CN" sz="1050" dirty="0"/>
              <a:t>[1] RUDRA K, BANERJEE S, GANGULY N, et al. Summarizing situational tweets in crisis scenario[C]. Proceedings of the 27th ACM Conference on Hypertext and Social Media (HT ’16). </a:t>
            </a:r>
            <a:endParaRPr lang="en-US" sz="1050" dirty="0"/>
          </a:p>
        </p:txBody>
      </p:sp>
      <p:sp>
        <p:nvSpPr>
          <p:cNvPr id="12" name="TextBox 11">
            <a:extLst>
              <a:ext uri="{FF2B5EF4-FFF2-40B4-BE49-F238E27FC236}">
                <a16:creationId xmlns:a16="http://schemas.microsoft.com/office/drawing/2014/main" id="{986DE32E-C83F-42F4-74EF-53DEF3253ED7}"/>
              </a:ext>
            </a:extLst>
          </p:cNvPr>
          <p:cNvSpPr txBox="1"/>
          <p:nvPr/>
        </p:nvSpPr>
        <p:spPr>
          <a:xfrm>
            <a:off x="9267977" y="4994874"/>
            <a:ext cx="3058608" cy="1200329"/>
          </a:xfrm>
          <a:prstGeom prst="rect">
            <a:avLst/>
          </a:prstGeom>
          <a:noFill/>
        </p:spPr>
        <p:txBody>
          <a:bodyPr wrap="square">
            <a:spAutoFit/>
          </a:bodyPr>
          <a:lstStyle/>
          <a:p>
            <a:r>
              <a:rPr lang="ja-JP" altLang="en-US" b="1" dirty="0">
                <a:solidFill>
                  <a:srgbClr val="FF0000"/>
                </a:solidFill>
              </a:rPr>
              <a:t>不足：</a:t>
            </a:r>
            <a:r>
              <a:rPr lang="zh-CN" altLang="en-US" b="1" dirty="0">
                <a:solidFill>
                  <a:srgbClr val="FF0000"/>
                </a:solidFill>
              </a:rPr>
              <a:t> </a:t>
            </a:r>
            <a:endParaRPr lang="en-US" altLang="zh-CN" b="1" dirty="0">
              <a:solidFill>
                <a:srgbClr val="FF0000"/>
              </a:solidFill>
            </a:endParaRPr>
          </a:p>
          <a:p>
            <a:pPr marL="285750" indent="-285750">
              <a:buFont typeface="Arial" panose="020B0604020202020204" pitchFamily="34" charset="0"/>
              <a:buChar char="•"/>
            </a:pPr>
            <a:r>
              <a:rPr lang="zh-CN" altLang="en-US" dirty="0">
                <a:solidFill>
                  <a:srgbClr val="FF0000"/>
                </a:solidFill>
              </a:rPr>
              <a:t> </a:t>
            </a:r>
            <a:r>
              <a:rPr lang="ja-JP" altLang="en-US" dirty="0">
                <a:solidFill>
                  <a:srgbClr val="FF0000"/>
                </a:solidFill>
              </a:rPr>
              <a:t>抽出結果を実世界の災害データと照合する検証は行われていない。</a:t>
            </a:r>
            <a:endParaRPr lang="en-US" altLang="ja-JP" dirty="0">
              <a:solidFill>
                <a:srgbClr val="FF0000"/>
              </a:solidFill>
            </a:endParaRPr>
          </a:p>
        </p:txBody>
      </p:sp>
      <p:sp>
        <p:nvSpPr>
          <p:cNvPr id="8" name="TextBox 7">
            <a:extLst>
              <a:ext uri="{FF2B5EF4-FFF2-40B4-BE49-F238E27FC236}">
                <a16:creationId xmlns:a16="http://schemas.microsoft.com/office/drawing/2014/main" id="{A4FDBF2B-78E2-0D7D-BEC5-9D477E3C535A}"/>
              </a:ext>
            </a:extLst>
          </p:cNvPr>
          <p:cNvSpPr txBox="1"/>
          <p:nvPr/>
        </p:nvSpPr>
        <p:spPr>
          <a:xfrm>
            <a:off x="671156" y="1983872"/>
            <a:ext cx="475278" cy="369332"/>
          </a:xfrm>
          <a:prstGeom prst="rect">
            <a:avLst/>
          </a:prstGeom>
          <a:noFill/>
        </p:spPr>
        <p:txBody>
          <a:bodyPr wrap="square">
            <a:spAutoFit/>
          </a:bodyPr>
          <a:lstStyle/>
          <a:p>
            <a:r>
              <a:rPr lang="en-US" dirty="0"/>
              <a:t>[1]</a:t>
            </a:r>
          </a:p>
        </p:txBody>
      </p:sp>
      <p:sp>
        <p:nvSpPr>
          <p:cNvPr id="17" name="矩形 16">
            <a:extLst>
              <a:ext uri="{FF2B5EF4-FFF2-40B4-BE49-F238E27FC236}">
                <a16:creationId xmlns:a16="http://schemas.microsoft.com/office/drawing/2014/main" id="{8C4D731F-5E32-4B4B-9CF9-2D8075F8B220}"/>
              </a:ext>
            </a:extLst>
          </p:cNvPr>
          <p:cNvSpPr/>
          <p:nvPr/>
        </p:nvSpPr>
        <p:spPr>
          <a:xfrm>
            <a:off x="4357735" y="5759371"/>
            <a:ext cx="2108183" cy="4602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dirty="0"/>
              <a:t>カテゴリ別まとめ</a:t>
            </a:r>
            <a:endParaRPr lang="en-US" altLang="ja-JP" dirty="0"/>
          </a:p>
        </p:txBody>
      </p:sp>
      <p:sp>
        <p:nvSpPr>
          <p:cNvPr id="18" name="矩形 17">
            <a:extLst>
              <a:ext uri="{FF2B5EF4-FFF2-40B4-BE49-F238E27FC236}">
                <a16:creationId xmlns:a16="http://schemas.microsoft.com/office/drawing/2014/main" id="{F03EFEDF-04CA-4287-B23E-0AC0A71AA31E}"/>
              </a:ext>
            </a:extLst>
          </p:cNvPr>
          <p:cNvSpPr/>
          <p:nvPr/>
        </p:nvSpPr>
        <p:spPr>
          <a:xfrm>
            <a:off x="7190169" y="5759371"/>
            <a:ext cx="1353557" cy="4602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dirty="0"/>
              <a:t>全体まとめ</a:t>
            </a:r>
            <a:endParaRPr lang="en-JP" altLang="zh-CN" dirty="0"/>
          </a:p>
        </p:txBody>
      </p:sp>
      <p:sp>
        <p:nvSpPr>
          <p:cNvPr id="3" name="文本框 2">
            <a:extLst>
              <a:ext uri="{FF2B5EF4-FFF2-40B4-BE49-F238E27FC236}">
                <a16:creationId xmlns:a16="http://schemas.microsoft.com/office/drawing/2014/main" id="{DB3D0E18-F39E-4DB0-A4AF-DEBC71F01C28}"/>
              </a:ext>
            </a:extLst>
          </p:cNvPr>
          <p:cNvSpPr txBox="1"/>
          <p:nvPr/>
        </p:nvSpPr>
        <p:spPr>
          <a:xfrm>
            <a:off x="9442339" y="1983872"/>
            <a:ext cx="2078505" cy="2585323"/>
          </a:xfrm>
          <a:prstGeom prst="rect">
            <a:avLst/>
          </a:prstGeom>
          <a:noFill/>
        </p:spPr>
        <p:txBody>
          <a:bodyPr wrap="square" rtlCol="0">
            <a:spAutoFit/>
          </a:bodyPr>
          <a:lstStyle/>
          <a:p>
            <a:r>
              <a:rPr lang="ja-JP" altLang="en-US" dirty="0"/>
              <a:t>　災害発生時に</a:t>
            </a:r>
            <a:r>
              <a:rPr lang="en-US" altLang="ja-JP" dirty="0"/>
              <a:t>Twitter</a:t>
            </a:r>
            <a:r>
              <a:rPr lang="ja-JP" altLang="en-US" dirty="0"/>
              <a:t>上へ大量に流れる断片的で重複が多くノイズの多い救援関連ツイートを、自動的に「カテゴリ別の短い状況要約」に整理する</a:t>
            </a:r>
            <a:endParaRPr lang="zh-CN" altLang="en-US" dirty="0"/>
          </a:p>
        </p:txBody>
      </p:sp>
      <p:sp>
        <p:nvSpPr>
          <p:cNvPr id="13" name="对话气泡: 圆角矩形 12">
            <a:extLst>
              <a:ext uri="{FF2B5EF4-FFF2-40B4-BE49-F238E27FC236}">
                <a16:creationId xmlns:a16="http://schemas.microsoft.com/office/drawing/2014/main" id="{08925781-20B3-4D9F-AF4C-50CFA9A67600}"/>
              </a:ext>
            </a:extLst>
          </p:cNvPr>
          <p:cNvSpPr/>
          <p:nvPr/>
        </p:nvSpPr>
        <p:spPr>
          <a:xfrm>
            <a:off x="317644" y="4994874"/>
            <a:ext cx="2853499" cy="1458931"/>
          </a:xfrm>
          <a:prstGeom prst="wedgeRoundRectCallout">
            <a:avLst>
              <a:gd name="adj1" fmla="val 36718"/>
              <a:gd name="adj2" fmla="val -8337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ツイートの分類</a:t>
            </a:r>
          </a:p>
          <a:p>
            <a:pPr marL="285750" indent="-285750" algn="ctr">
              <a:buFont typeface="Arial" panose="020B0604020202020204" pitchFamily="34" charset="0"/>
              <a:buChar char="•"/>
            </a:pPr>
            <a:r>
              <a:rPr lang="ja-JP" altLang="en-US" dirty="0"/>
              <a:t>建築災害</a:t>
            </a:r>
          </a:p>
          <a:p>
            <a:pPr marL="285750" indent="-285750" algn="ctr">
              <a:buFont typeface="Arial" panose="020B0604020202020204" pitchFamily="34" charset="0"/>
              <a:buChar char="•"/>
            </a:pPr>
            <a:r>
              <a:rPr lang="ja-JP" altLang="en-US" dirty="0"/>
              <a:t>行方不明者または発見された人</a:t>
            </a:r>
          </a:p>
          <a:p>
            <a:pPr marL="285750" indent="-285750" algn="ctr">
              <a:buFont typeface="Arial" panose="020B0604020202020204" pitchFamily="34" charset="0"/>
              <a:buChar char="•"/>
            </a:pPr>
            <a:r>
              <a:rPr lang="ja-JP" altLang="en-US" dirty="0"/>
              <a:t>避難所需要</a:t>
            </a:r>
          </a:p>
        </p:txBody>
      </p:sp>
      <p:sp>
        <p:nvSpPr>
          <p:cNvPr id="5" name="TextBox 4">
            <a:extLst>
              <a:ext uri="{FF2B5EF4-FFF2-40B4-BE49-F238E27FC236}">
                <a16:creationId xmlns:a16="http://schemas.microsoft.com/office/drawing/2014/main" id="{FE8F43DE-26FF-BEF1-9486-8CF8A43B6D3A}"/>
              </a:ext>
            </a:extLst>
          </p:cNvPr>
          <p:cNvSpPr txBox="1"/>
          <p:nvPr/>
        </p:nvSpPr>
        <p:spPr>
          <a:xfrm>
            <a:off x="1041990" y="1520456"/>
            <a:ext cx="6049925" cy="369332"/>
          </a:xfrm>
          <a:prstGeom prst="rect">
            <a:avLst/>
          </a:prstGeom>
          <a:noFill/>
        </p:spPr>
        <p:txBody>
          <a:bodyPr wrap="square" rtlCol="0">
            <a:spAutoFit/>
          </a:bodyPr>
          <a:lstStyle/>
          <a:p>
            <a:r>
              <a:rPr lang="en-JP" dirty="0"/>
              <a:t>对推特分类</a:t>
            </a:r>
            <a:r>
              <a:rPr lang="zh-CN" altLang="en-US" dirty="0"/>
              <a:t>，分别总结不同信息，再生成总体的报告</a:t>
            </a:r>
            <a:endParaRPr lang="en-JP" dirty="0"/>
          </a:p>
        </p:txBody>
      </p:sp>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823B9FA9-8931-B7FE-CAD2-70124061992A}"/>
                  </a:ext>
                </a:extLst>
              </p14:cNvPr>
              <p14:cNvContentPartPr/>
              <p14:nvPr/>
            </p14:nvContentPartPr>
            <p14:xfrm>
              <a:off x="614972" y="932124"/>
              <a:ext cx="7694280" cy="1105200"/>
            </p14:xfrm>
          </p:contentPart>
        </mc:Choice>
        <mc:Fallback>
          <p:pic>
            <p:nvPicPr>
              <p:cNvPr id="7" name="Ink 6">
                <a:extLst>
                  <a:ext uri="{FF2B5EF4-FFF2-40B4-BE49-F238E27FC236}">
                    <a16:creationId xmlns:a16="http://schemas.microsoft.com/office/drawing/2014/main" id="{823B9FA9-8931-B7FE-CAD2-70124061992A}"/>
                  </a:ext>
                </a:extLst>
              </p:cNvPr>
              <p:cNvPicPr/>
              <p:nvPr/>
            </p:nvPicPr>
            <p:blipFill>
              <a:blip r:embed="rId6"/>
              <a:stretch>
                <a:fillRect/>
              </a:stretch>
            </p:blipFill>
            <p:spPr>
              <a:xfrm>
                <a:off x="605972" y="923484"/>
                <a:ext cx="7711920" cy="1122840"/>
              </a:xfrm>
              <a:prstGeom prst="rect">
                <a:avLst/>
              </a:prstGeom>
            </p:spPr>
          </p:pic>
        </mc:Fallback>
      </mc:AlternateContent>
    </p:spTree>
    <p:extLst>
      <p:ext uri="{BB962C8B-B14F-4D97-AF65-F5344CB8AC3E}">
        <p14:creationId xmlns:p14="http://schemas.microsoft.com/office/powerpoint/2010/main" val="1252517975"/>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4C18-2A35-B0AF-7F0F-0629944C3C8B}"/>
              </a:ext>
            </a:extLst>
          </p:cNvPr>
          <p:cNvSpPr>
            <a:spLocks noGrp="1"/>
          </p:cNvSpPr>
          <p:nvPr>
            <p:ph type="title"/>
          </p:nvPr>
        </p:nvSpPr>
        <p:spPr/>
        <p:txBody>
          <a:bodyPr/>
          <a:lstStyle/>
          <a:p>
            <a:r>
              <a:rPr lang="ja-JP" altLang="en-US" dirty="0"/>
              <a:t>先行研究</a:t>
            </a:r>
            <a:endParaRPr lang="en-US" dirty="0"/>
          </a:p>
        </p:txBody>
      </p:sp>
      <p:sp>
        <p:nvSpPr>
          <p:cNvPr id="4" name="Slide Number Placeholder 3">
            <a:extLst>
              <a:ext uri="{FF2B5EF4-FFF2-40B4-BE49-F238E27FC236}">
                <a16:creationId xmlns:a16="http://schemas.microsoft.com/office/drawing/2014/main" id="{2761E838-6C80-152A-588A-9BBC23DBD5DD}"/>
              </a:ext>
            </a:extLst>
          </p:cNvPr>
          <p:cNvSpPr>
            <a:spLocks noGrp="1"/>
          </p:cNvSpPr>
          <p:nvPr>
            <p:ph type="sldNum" sz="quarter" idx="12"/>
          </p:nvPr>
        </p:nvSpPr>
        <p:spPr/>
        <p:txBody>
          <a:bodyPr/>
          <a:lstStyle/>
          <a:p>
            <a:fld id="{6732DEBC-3A3D-4A20-A97E-1DC1DBFA9CD8}" type="slidenum">
              <a:rPr kumimoji="1" lang="ja-JP" altLang="en-US" smtClean="0"/>
              <a:pPr/>
              <a:t>4</a:t>
            </a:fld>
            <a:endParaRPr kumimoji="1" lang="ja-JP" altLang="en-US" dirty="0"/>
          </a:p>
        </p:txBody>
      </p:sp>
      <p:pic>
        <p:nvPicPr>
          <p:cNvPr id="5" name="Picture 4">
            <a:extLst>
              <a:ext uri="{FF2B5EF4-FFF2-40B4-BE49-F238E27FC236}">
                <a16:creationId xmlns:a16="http://schemas.microsoft.com/office/drawing/2014/main" id="{608554AA-75FC-BB1F-9F6D-6C03519EC4D2}"/>
              </a:ext>
            </a:extLst>
          </p:cNvPr>
          <p:cNvPicPr>
            <a:picLocks noChangeAspect="1"/>
          </p:cNvPicPr>
          <p:nvPr/>
        </p:nvPicPr>
        <p:blipFill>
          <a:blip r:embed="rId4"/>
          <a:stretch>
            <a:fillRect/>
          </a:stretch>
        </p:blipFill>
        <p:spPr>
          <a:xfrm>
            <a:off x="1075839" y="2036222"/>
            <a:ext cx="4773582" cy="4329145"/>
          </a:xfrm>
          <a:prstGeom prst="rect">
            <a:avLst/>
          </a:prstGeom>
        </p:spPr>
      </p:pic>
      <p:sp>
        <p:nvSpPr>
          <p:cNvPr id="6" name="TextBox 5">
            <a:extLst>
              <a:ext uri="{FF2B5EF4-FFF2-40B4-BE49-F238E27FC236}">
                <a16:creationId xmlns:a16="http://schemas.microsoft.com/office/drawing/2014/main" id="{06AE2D45-326C-9DDF-C3DE-59278446E217}"/>
              </a:ext>
            </a:extLst>
          </p:cNvPr>
          <p:cNvSpPr txBox="1"/>
          <p:nvPr/>
        </p:nvSpPr>
        <p:spPr>
          <a:xfrm>
            <a:off x="6822974" y="1808406"/>
            <a:ext cx="3730726" cy="2031325"/>
          </a:xfrm>
          <a:prstGeom prst="rect">
            <a:avLst/>
          </a:prstGeom>
          <a:noFill/>
        </p:spPr>
        <p:txBody>
          <a:bodyPr wrap="square" rtlCol="0">
            <a:spAutoFit/>
          </a:bodyPr>
          <a:lstStyle/>
          <a:p>
            <a:r>
              <a:rPr lang="ja-JP" altLang="en-US" b="1" dirty="0"/>
              <a:t>流れ：</a:t>
            </a:r>
            <a:endParaRPr lang="en-US" altLang="ja-JP" b="1" dirty="0"/>
          </a:p>
          <a:p>
            <a:pPr marL="285750" indent="-285750">
              <a:buFont typeface="Arial" panose="020B0604020202020204" pitchFamily="34" charset="0"/>
              <a:buChar char="•"/>
            </a:pPr>
            <a:r>
              <a:rPr lang="ja-JP" altLang="en-US" dirty="0"/>
              <a:t>災害／公衆衛生上の緊急事態の際に投稿される </a:t>
            </a:r>
            <a:r>
              <a:rPr lang="en-US" altLang="ja-JP" dirty="0"/>
              <a:t>Twitter </a:t>
            </a:r>
            <a:r>
              <a:rPr lang="ja-JP" altLang="en-US" dirty="0"/>
              <a:t>のツイートを活用し、非構造化テキストを救援意思決定に利用できる構造化情報へ変換する。</a:t>
            </a:r>
            <a:endParaRPr lang="en-US" altLang="ja-JP" dirty="0"/>
          </a:p>
          <a:p>
            <a:endParaRPr lang="en-US" dirty="0"/>
          </a:p>
        </p:txBody>
      </p:sp>
      <p:sp>
        <p:nvSpPr>
          <p:cNvPr id="7" name="TextBox 6">
            <a:extLst>
              <a:ext uri="{FF2B5EF4-FFF2-40B4-BE49-F238E27FC236}">
                <a16:creationId xmlns:a16="http://schemas.microsoft.com/office/drawing/2014/main" id="{DFD2FC69-D260-C3F2-56AF-259EC24FC900}"/>
              </a:ext>
            </a:extLst>
          </p:cNvPr>
          <p:cNvSpPr txBox="1"/>
          <p:nvPr/>
        </p:nvSpPr>
        <p:spPr>
          <a:xfrm>
            <a:off x="6822974" y="4185265"/>
            <a:ext cx="3401960" cy="1754326"/>
          </a:xfrm>
          <a:prstGeom prst="rect">
            <a:avLst/>
          </a:prstGeom>
          <a:noFill/>
        </p:spPr>
        <p:txBody>
          <a:bodyPr wrap="square" rtlCol="0">
            <a:spAutoFit/>
          </a:bodyPr>
          <a:lstStyle/>
          <a:p>
            <a:r>
              <a:rPr lang="ja-JP" altLang="en-US" b="1" dirty="0"/>
              <a:t>不足：</a:t>
            </a:r>
            <a:endParaRPr lang="en-US" altLang="ja-JP" b="1" dirty="0"/>
          </a:p>
          <a:p>
            <a:pPr marL="285750" indent="-285750">
              <a:buFont typeface="Arial" panose="020B0604020202020204" pitchFamily="34" charset="0"/>
              <a:buChar char="•"/>
            </a:pPr>
            <a:r>
              <a:rPr lang="ja-JP" altLang="en-US" dirty="0"/>
              <a:t>ツイートデータを直接確認することは</a:t>
            </a:r>
            <a:r>
              <a:rPr lang="ja-JP" altLang="en-US" b="1" dirty="0"/>
              <a:t>非効率</a:t>
            </a:r>
            <a:r>
              <a:rPr lang="ja-JP" altLang="en-US" dirty="0"/>
              <a:t>であり、報告書を人手により作成しなければならない</a:t>
            </a:r>
            <a:endParaRPr lang="en-US" altLang="ja-JP" dirty="0"/>
          </a:p>
          <a:p>
            <a:endParaRPr lang="en-US" dirty="0"/>
          </a:p>
        </p:txBody>
      </p:sp>
      <p:sp>
        <p:nvSpPr>
          <p:cNvPr id="8" name="TextBox 7">
            <a:extLst>
              <a:ext uri="{FF2B5EF4-FFF2-40B4-BE49-F238E27FC236}">
                <a16:creationId xmlns:a16="http://schemas.microsoft.com/office/drawing/2014/main" id="{367A6D42-CFFE-4EFE-AAA7-0D430F5DEDC4}"/>
              </a:ext>
            </a:extLst>
          </p:cNvPr>
          <p:cNvSpPr txBox="1"/>
          <p:nvPr/>
        </p:nvSpPr>
        <p:spPr>
          <a:xfrm>
            <a:off x="838200" y="1503919"/>
            <a:ext cx="475278" cy="369332"/>
          </a:xfrm>
          <a:prstGeom prst="rect">
            <a:avLst/>
          </a:prstGeom>
          <a:noFill/>
        </p:spPr>
        <p:txBody>
          <a:bodyPr wrap="square">
            <a:spAutoFit/>
          </a:bodyPr>
          <a:lstStyle/>
          <a:p>
            <a:r>
              <a:rPr lang="en-US" dirty="0"/>
              <a:t>[2]</a:t>
            </a:r>
          </a:p>
        </p:txBody>
      </p:sp>
      <p:sp>
        <p:nvSpPr>
          <p:cNvPr id="9" name="文本框 8">
            <a:extLst>
              <a:ext uri="{FF2B5EF4-FFF2-40B4-BE49-F238E27FC236}">
                <a16:creationId xmlns:a16="http://schemas.microsoft.com/office/drawing/2014/main" id="{F890918E-CF9B-4B08-926C-6C17D1D9D8E0}"/>
              </a:ext>
            </a:extLst>
          </p:cNvPr>
          <p:cNvSpPr txBox="1"/>
          <p:nvPr/>
        </p:nvSpPr>
        <p:spPr>
          <a:xfrm>
            <a:off x="-786810" y="6657257"/>
            <a:ext cx="13935505" cy="230832"/>
          </a:xfrm>
          <a:prstGeom prst="rect">
            <a:avLst/>
          </a:prstGeom>
          <a:noFill/>
        </p:spPr>
        <p:txBody>
          <a:bodyPr wrap="square" rtlCol="0">
            <a:spAutoFit/>
          </a:bodyPr>
          <a:lstStyle/>
          <a:p>
            <a:pPr algn="ctr"/>
            <a:r>
              <a:rPr lang="en-US" altLang="zh-CN" sz="900" dirty="0">
                <a:solidFill>
                  <a:schemeClr val="bg2">
                    <a:lumMod val="50000"/>
                  </a:schemeClr>
                </a:solidFill>
              </a:rPr>
              <a:t>[2] </a:t>
            </a:r>
            <a:r>
              <a:rPr lang="en-US" altLang="zh-CN" sz="900" dirty="0" err="1">
                <a:solidFill>
                  <a:schemeClr val="bg2">
                    <a:lumMod val="50000"/>
                  </a:schemeClr>
                </a:solidFill>
              </a:rPr>
              <a:t>Behl</a:t>
            </a:r>
            <a:r>
              <a:rPr lang="en-US" altLang="zh-CN" sz="900" dirty="0">
                <a:solidFill>
                  <a:schemeClr val="bg2">
                    <a:lumMod val="50000"/>
                  </a:schemeClr>
                </a:solidFill>
              </a:rPr>
              <a:t>, S., Rao, A., Aggarwal, S., Chadha, S., and </a:t>
            </a:r>
            <a:r>
              <a:rPr lang="en-US" altLang="zh-CN" sz="900" dirty="0" err="1">
                <a:solidFill>
                  <a:schemeClr val="bg2">
                    <a:lumMod val="50000"/>
                  </a:schemeClr>
                </a:solidFill>
              </a:rPr>
              <a:t>Pannu</a:t>
            </a:r>
            <a:r>
              <a:rPr lang="en-US" altLang="zh-CN" sz="900" dirty="0">
                <a:solidFill>
                  <a:schemeClr val="bg2">
                    <a:lumMod val="50000"/>
                  </a:schemeClr>
                </a:solidFill>
              </a:rPr>
              <a:t>, H. </a:t>
            </a:r>
            <a:r>
              <a:rPr lang="en-US" altLang="zh-CN" sz="900" dirty="0" err="1">
                <a:solidFill>
                  <a:schemeClr val="bg2">
                    <a:lumMod val="50000"/>
                  </a:schemeClr>
                </a:solidFill>
              </a:rPr>
              <a:t>S.,“Twitter</a:t>
            </a:r>
            <a:r>
              <a:rPr lang="en-US" altLang="zh-CN" sz="900" dirty="0">
                <a:solidFill>
                  <a:schemeClr val="bg2">
                    <a:lumMod val="50000"/>
                  </a:schemeClr>
                </a:solidFill>
              </a:rPr>
              <a:t> for disaster relief through sentiment analysis for COVID-19 and natural hazard crises,” International Journal of Disaster Risk Reduction, Vol. 55, Article No. 102101, 2021.</a:t>
            </a:r>
            <a:endParaRPr lang="zh-CN" altLang="en-US" sz="900" dirty="0">
              <a:solidFill>
                <a:schemeClr val="bg2">
                  <a:lumMod val="50000"/>
                </a:schemeClr>
              </a:solidFill>
            </a:endParaRPr>
          </a:p>
        </p:txBody>
      </p:sp>
      <p:sp>
        <p:nvSpPr>
          <p:cNvPr id="3" name="TextBox 2">
            <a:extLst>
              <a:ext uri="{FF2B5EF4-FFF2-40B4-BE49-F238E27FC236}">
                <a16:creationId xmlns:a16="http://schemas.microsoft.com/office/drawing/2014/main" id="{76C7736C-EFAD-90C8-EA34-4844230C12BB}"/>
              </a:ext>
            </a:extLst>
          </p:cNvPr>
          <p:cNvSpPr txBox="1"/>
          <p:nvPr/>
        </p:nvSpPr>
        <p:spPr>
          <a:xfrm>
            <a:off x="1313478" y="1503919"/>
            <a:ext cx="6049925" cy="369332"/>
          </a:xfrm>
          <a:prstGeom prst="rect">
            <a:avLst/>
          </a:prstGeom>
          <a:noFill/>
        </p:spPr>
        <p:txBody>
          <a:bodyPr wrap="square" rtlCol="0">
            <a:spAutoFit/>
          </a:bodyPr>
          <a:lstStyle/>
          <a:p>
            <a:r>
              <a:rPr lang="en-JP" dirty="0"/>
              <a:t>对推特做数据分析</a:t>
            </a:r>
            <a:r>
              <a:rPr lang="zh-CN" altLang="en-US" dirty="0"/>
              <a:t>，并且共享给政府用作救灾知道</a:t>
            </a:r>
            <a:endParaRPr lang="en-JP" dirty="0"/>
          </a:p>
        </p:txBody>
      </p:sp>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72FA0992-FA42-12DD-196D-64DD72FE8AA8}"/>
                  </a:ext>
                </a:extLst>
              </p14:cNvPr>
              <p14:cNvContentPartPr/>
              <p14:nvPr/>
            </p14:nvContentPartPr>
            <p14:xfrm>
              <a:off x="411212" y="1305444"/>
              <a:ext cx="6955560" cy="723240"/>
            </p14:xfrm>
          </p:contentPart>
        </mc:Choice>
        <mc:Fallback>
          <p:pic>
            <p:nvPicPr>
              <p:cNvPr id="10" name="Ink 9">
                <a:extLst>
                  <a:ext uri="{FF2B5EF4-FFF2-40B4-BE49-F238E27FC236}">
                    <a16:creationId xmlns:a16="http://schemas.microsoft.com/office/drawing/2014/main" id="{72FA0992-FA42-12DD-196D-64DD72FE8AA8}"/>
                  </a:ext>
                </a:extLst>
              </p:cNvPr>
              <p:cNvPicPr/>
              <p:nvPr/>
            </p:nvPicPr>
            <p:blipFill>
              <a:blip r:embed="rId6"/>
              <a:stretch>
                <a:fillRect/>
              </a:stretch>
            </p:blipFill>
            <p:spPr>
              <a:xfrm>
                <a:off x="402212" y="1296444"/>
                <a:ext cx="6973200" cy="740880"/>
              </a:xfrm>
              <a:prstGeom prst="rect">
                <a:avLst/>
              </a:prstGeom>
            </p:spPr>
          </p:pic>
        </mc:Fallback>
      </mc:AlternateContent>
    </p:spTree>
    <p:extLst>
      <p:ext uri="{BB962C8B-B14F-4D97-AF65-F5344CB8AC3E}">
        <p14:creationId xmlns:p14="http://schemas.microsoft.com/office/powerpoint/2010/main" val="282934880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0EAEF-D188-5660-557C-C475BE4317A3}"/>
              </a:ext>
            </a:extLst>
          </p:cNvPr>
          <p:cNvSpPr>
            <a:spLocks noGrp="1"/>
          </p:cNvSpPr>
          <p:nvPr>
            <p:ph type="title"/>
          </p:nvPr>
        </p:nvSpPr>
        <p:spPr/>
        <p:txBody>
          <a:bodyPr/>
          <a:lstStyle/>
          <a:p>
            <a:r>
              <a:rPr lang="en-US" dirty="0"/>
              <a:t>Goal &amp; Challenge</a:t>
            </a:r>
          </a:p>
        </p:txBody>
      </p:sp>
      <p:sp>
        <p:nvSpPr>
          <p:cNvPr id="4" name="Slide Number Placeholder 3">
            <a:extLst>
              <a:ext uri="{FF2B5EF4-FFF2-40B4-BE49-F238E27FC236}">
                <a16:creationId xmlns:a16="http://schemas.microsoft.com/office/drawing/2014/main" id="{CC7E5572-66BC-08B7-FAE3-2FF307766E85}"/>
              </a:ext>
            </a:extLst>
          </p:cNvPr>
          <p:cNvSpPr>
            <a:spLocks noGrp="1"/>
          </p:cNvSpPr>
          <p:nvPr>
            <p:ph type="sldNum" sz="quarter" idx="12"/>
          </p:nvPr>
        </p:nvSpPr>
        <p:spPr/>
        <p:txBody>
          <a:bodyPr/>
          <a:lstStyle/>
          <a:p>
            <a:fld id="{6732DEBC-3A3D-4A20-A97E-1DC1DBFA9CD8}" type="slidenum">
              <a:rPr kumimoji="1" lang="ja-JP" altLang="en-US" smtClean="0"/>
              <a:pPr/>
              <a:t>5</a:t>
            </a:fld>
            <a:endParaRPr kumimoji="1" lang="ja-JP" altLang="en-US" dirty="0"/>
          </a:p>
        </p:txBody>
      </p:sp>
      <p:sp>
        <p:nvSpPr>
          <p:cNvPr id="6" name="TextBox 5">
            <a:extLst>
              <a:ext uri="{FF2B5EF4-FFF2-40B4-BE49-F238E27FC236}">
                <a16:creationId xmlns:a16="http://schemas.microsoft.com/office/drawing/2014/main" id="{555D0622-9658-1A06-F7FF-40737F0FC2BE}"/>
              </a:ext>
            </a:extLst>
          </p:cNvPr>
          <p:cNvSpPr txBox="1"/>
          <p:nvPr/>
        </p:nvSpPr>
        <p:spPr>
          <a:xfrm>
            <a:off x="517320" y="5407365"/>
            <a:ext cx="8838538" cy="1200329"/>
          </a:xfrm>
          <a:prstGeom prst="rect">
            <a:avLst/>
          </a:prstGeom>
          <a:noFill/>
        </p:spPr>
        <p:txBody>
          <a:bodyPr wrap="square" rtlCol="0">
            <a:spAutoFit/>
          </a:bodyPr>
          <a:lstStyle/>
          <a:p>
            <a:r>
              <a:rPr lang="ja-JP" altLang="en-US" dirty="0"/>
              <a:t>課題</a:t>
            </a:r>
            <a:r>
              <a:rPr lang="zh-CN" altLang="en-US" dirty="0"/>
              <a:t>：</a:t>
            </a:r>
            <a:endParaRPr lang="en-US" altLang="zh-CN" dirty="0"/>
          </a:p>
          <a:p>
            <a:pPr marL="285750" indent="-285750">
              <a:buFont typeface="Arial" panose="020B0604020202020204" pitchFamily="34" charset="0"/>
              <a:buChar char="•"/>
            </a:pPr>
            <a:r>
              <a:rPr lang="ja-JP" altLang="en-US" dirty="0"/>
              <a:t>生データ（</a:t>
            </a:r>
            <a:r>
              <a:rPr lang="en-US" altLang="ja-JP" dirty="0"/>
              <a:t>raw data</a:t>
            </a:r>
            <a:r>
              <a:rPr lang="ja-JP" altLang="en-US"/>
              <a:t>）から定量情報</a:t>
            </a:r>
            <a:r>
              <a:rPr lang="ja-JP" altLang="en-US" dirty="0"/>
              <a:t>をどう抽出するか。</a:t>
            </a:r>
            <a:endParaRPr lang="en-US" altLang="ja-JP" dirty="0"/>
          </a:p>
          <a:p>
            <a:pPr marL="285750" indent="-285750">
              <a:buFont typeface="Arial" panose="020B0604020202020204" pitchFamily="34" charset="0"/>
              <a:buChar char="•"/>
            </a:pPr>
            <a:r>
              <a:rPr lang="ja-JP" altLang="en-US" dirty="0"/>
              <a:t>ツイート情報を人口密度や地理条件と統合し、被災状況をどう推定・把握するか。</a:t>
            </a:r>
            <a:endParaRPr lang="en-US" altLang="ja-JP" dirty="0"/>
          </a:p>
          <a:p>
            <a:pPr marL="285750" indent="-285750">
              <a:buFont typeface="Arial" panose="020B0604020202020204" pitchFamily="34" charset="0"/>
              <a:buChar char="•"/>
            </a:pPr>
            <a:r>
              <a:rPr lang="ja-JP" altLang="en-US" dirty="0"/>
              <a:t>統計（定量）とテキスト（定性）に基づき、高品質な報告書をどう生成するか。</a:t>
            </a:r>
            <a:endParaRPr lang="en-US" dirty="0"/>
          </a:p>
        </p:txBody>
      </p:sp>
      <p:grpSp>
        <p:nvGrpSpPr>
          <p:cNvPr id="26" name="组合 25">
            <a:extLst>
              <a:ext uri="{FF2B5EF4-FFF2-40B4-BE49-F238E27FC236}">
                <a16:creationId xmlns:a16="http://schemas.microsoft.com/office/drawing/2014/main" id="{EB31381C-8544-457D-9BE7-95996C90FC91}"/>
              </a:ext>
            </a:extLst>
          </p:cNvPr>
          <p:cNvGrpSpPr/>
          <p:nvPr/>
        </p:nvGrpSpPr>
        <p:grpSpPr>
          <a:xfrm>
            <a:off x="293387" y="1906117"/>
            <a:ext cx="1377855" cy="2747298"/>
            <a:chOff x="1936764" y="2016943"/>
            <a:chExt cx="1377855" cy="2747298"/>
          </a:xfrm>
        </p:grpSpPr>
        <p:pic>
          <p:nvPicPr>
            <p:cNvPr id="7" name="图片 5">
              <a:extLst>
                <a:ext uri="{FF2B5EF4-FFF2-40B4-BE49-F238E27FC236}">
                  <a16:creationId xmlns:a16="http://schemas.microsoft.com/office/drawing/2014/main" id="{F026FE39-C55F-502E-BCE0-7A1EBB873D2F}"/>
                </a:ext>
              </a:extLst>
            </p:cNvPr>
            <p:cNvPicPr>
              <a:picLocks noChangeAspect="1"/>
            </p:cNvPicPr>
            <p:nvPr/>
          </p:nvPicPr>
          <p:blipFill rotWithShape="1">
            <a:blip r:embed="rId3"/>
            <a:srcRect l="3512" t="19690" r="79134" b="8564"/>
            <a:stretch>
              <a:fillRect/>
            </a:stretch>
          </p:blipFill>
          <p:spPr>
            <a:xfrm>
              <a:off x="1936764" y="2016943"/>
              <a:ext cx="1122569" cy="2747298"/>
            </a:xfrm>
            <a:prstGeom prst="rect">
              <a:avLst/>
            </a:prstGeom>
          </p:spPr>
        </p:pic>
        <p:sp>
          <p:nvSpPr>
            <p:cNvPr id="25" name="文本框 24">
              <a:extLst>
                <a:ext uri="{FF2B5EF4-FFF2-40B4-BE49-F238E27FC236}">
                  <a16:creationId xmlns:a16="http://schemas.microsoft.com/office/drawing/2014/main" id="{A498B706-B146-471B-BC3D-F73CB809D1E8}"/>
                </a:ext>
              </a:extLst>
            </p:cNvPr>
            <p:cNvSpPr txBox="1"/>
            <p:nvPr/>
          </p:nvSpPr>
          <p:spPr>
            <a:xfrm>
              <a:off x="2192050" y="2587380"/>
              <a:ext cx="1122569" cy="369332"/>
            </a:xfrm>
            <a:prstGeom prst="rect">
              <a:avLst/>
            </a:prstGeom>
            <a:noFill/>
          </p:spPr>
          <p:txBody>
            <a:bodyPr wrap="square" rtlCol="0">
              <a:spAutoFit/>
            </a:bodyPr>
            <a:lstStyle/>
            <a:p>
              <a:r>
                <a:rPr lang="en-US" altLang="zh-CN" b="1" dirty="0"/>
                <a:t>Raw Data</a:t>
              </a:r>
              <a:endParaRPr lang="zh-CN" altLang="en-US" b="1" dirty="0"/>
            </a:p>
          </p:txBody>
        </p:sp>
      </p:grpSp>
      <p:sp>
        <p:nvSpPr>
          <p:cNvPr id="13" name="Arrow: Right 12">
            <a:extLst>
              <a:ext uri="{FF2B5EF4-FFF2-40B4-BE49-F238E27FC236}">
                <a16:creationId xmlns:a16="http://schemas.microsoft.com/office/drawing/2014/main" id="{1FF4BF1D-D798-F192-8DE4-472C28109418}"/>
              </a:ext>
            </a:extLst>
          </p:cNvPr>
          <p:cNvSpPr/>
          <p:nvPr/>
        </p:nvSpPr>
        <p:spPr>
          <a:xfrm>
            <a:off x="1938627" y="3069226"/>
            <a:ext cx="1670312" cy="3539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3B448F-4F2F-DF68-3241-D707BB8C0B69}"/>
              </a:ext>
            </a:extLst>
          </p:cNvPr>
          <p:cNvSpPr txBox="1"/>
          <p:nvPr/>
        </p:nvSpPr>
        <p:spPr>
          <a:xfrm>
            <a:off x="2417823" y="2536518"/>
            <a:ext cx="732656" cy="707886"/>
          </a:xfrm>
          <a:prstGeom prst="rect">
            <a:avLst/>
          </a:prstGeom>
          <a:noFill/>
        </p:spPr>
        <p:txBody>
          <a:bodyPr wrap="square" rtlCol="0">
            <a:spAutoFit/>
          </a:bodyPr>
          <a:lstStyle/>
          <a:p>
            <a:r>
              <a:rPr lang="zh-CN" altLang="en-US" sz="4000" dirty="0"/>
              <a:t>？</a:t>
            </a:r>
            <a:endParaRPr lang="en-US" dirty="0"/>
          </a:p>
        </p:txBody>
      </p:sp>
      <p:sp>
        <p:nvSpPr>
          <p:cNvPr id="17" name="Rectangle: Rounded Corners 16">
            <a:extLst>
              <a:ext uri="{FF2B5EF4-FFF2-40B4-BE49-F238E27FC236}">
                <a16:creationId xmlns:a16="http://schemas.microsoft.com/office/drawing/2014/main" id="{634A5365-D65A-7F7F-975A-7CCE7F82C6F3}"/>
              </a:ext>
            </a:extLst>
          </p:cNvPr>
          <p:cNvSpPr/>
          <p:nvPr/>
        </p:nvSpPr>
        <p:spPr>
          <a:xfrm>
            <a:off x="3870989" y="1551723"/>
            <a:ext cx="2738190" cy="2379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レポート</a:t>
            </a:r>
            <a:br>
              <a:rPr lang="ja-JP" altLang="en-US" dirty="0"/>
            </a:br>
            <a:r>
              <a:rPr lang="en-US" altLang="ja-JP" dirty="0"/>
              <a:t>1</a:t>
            </a:r>
            <a:r>
              <a:rPr lang="ja-JP" altLang="en-US" dirty="0"/>
              <a:t>．避難規模（人数）</a:t>
            </a:r>
            <a:br>
              <a:rPr lang="ja-JP" altLang="en-US" dirty="0"/>
            </a:br>
            <a:r>
              <a:rPr lang="en-US" altLang="ja-JP" dirty="0"/>
              <a:t>2</a:t>
            </a:r>
            <a:r>
              <a:rPr lang="ja-JP" altLang="en-US" dirty="0"/>
              <a:t>．建物の損傷状況</a:t>
            </a:r>
            <a:br>
              <a:rPr lang="ja-JP" altLang="en-US" dirty="0"/>
            </a:br>
            <a:r>
              <a:rPr lang="en-US" altLang="ja-JP" dirty="0"/>
              <a:t>3</a:t>
            </a:r>
            <a:r>
              <a:rPr lang="ja-JP" altLang="en-US" dirty="0"/>
              <a:t>．医療ニーズ（負傷・救急対応）</a:t>
            </a:r>
          </a:p>
          <a:p>
            <a:pPr algn="ctr"/>
            <a:endParaRPr lang="en-US" dirty="0"/>
          </a:p>
        </p:txBody>
      </p:sp>
      <p:pic>
        <p:nvPicPr>
          <p:cNvPr id="8" name="图片 7">
            <a:extLst>
              <a:ext uri="{FF2B5EF4-FFF2-40B4-BE49-F238E27FC236}">
                <a16:creationId xmlns:a16="http://schemas.microsoft.com/office/drawing/2014/main" id="{2721460A-2789-45D1-9B03-FF55B343F15E}"/>
              </a:ext>
            </a:extLst>
          </p:cNvPr>
          <p:cNvPicPr>
            <a:picLocks noChangeAspect="1"/>
          </p:cNvPicPr>
          <p:nvPr/>
        </p:nvPicPr>
        <p:blipFill rotWithShape="1">
          <a:blip r:embed="rId4"/>
          <a:srcRect l="3234" r="3559"/>
          <a:stretch/>
        </p:blipFill>
        <p:spPr>
          <a:xfrm>
            <a:off x="8631460" y="1551723"/>
            <a:ext cx="3284102" cy="3944588"/>
          </a:xfrm>
          <a:prstGeom prst="rect">
            <a:avLst/>
          </a:prstGeom>
        </p:spPr>
      </p:pic>
      <p:sp>
        <p:nvSpPr>
          <p:cNvPr id="15" name="文本框 14">
            <a:extLst>
              <a:ext uri="{FF2B5EF4-FFF2-40B4-BE49-F238E27FC236}">
                <a16:creationId xmlns:a16="http://schemas.microsoft.com/office/drawing/2014/main" id="{E4AD7C76-7D4B-47AF-B538-D709EE47A7E0}"/>
              </a:ext>
            </a:extLst>
          </p:cNvPr>
          <p:cNvSpPr txBox="1"/>
          <p:nvPr/>
        </p:nvSpPr>
        <p:spPr>
          <a:xfrm>
            <a:off x="1038123" y="6664832"/>
            <a:ext cx="10315677" cy="246221"/>
          </a:xfrm>
          <a:prstGeom prst="rect">
            <a:avLst/>
          </a:prstGeom>
          <a:noFill/>
        </p:spPr>
        <p:txBody>
          <a:bodyPr wrap="square">
            <a:spAutoFit/>
          </a:bodyPr>
          <a:lstStyle/>
          <a:p>
            <a:pPr algn="ctr"/>
            <a:r>
              <a:rPr lang="en-US" altLang="ja-JP" sz="1000" dirty="0">
                <a:solidFill>
                  <a:schemeClr val="bg2">
                    <a:lumMod val="50000"/>
                  </a:schemeClr>
                </a:solidFill>
              </a:rPr>
              <a:t>[3]:</a:t>
            </a:r>
            <a:r>
              <a:rPr lang="ja-JP" altLang="en-US" sz="1000" dirty="0">
                <a:solidFill>
                  <a:schemeClr val="bg2">
                    <a:lumMod val="50000"/>
                  </a:schemeClr>
                </a:solidFill>
              </a:rPr>
              <a:t>非常災害対策本部（</a:t>
            </a:r>
            <a:r>
              <a:rPr lang="en-US" altLang="ja-JP" sz="1000" dirty="0">
                <a:solidFill>
                  <a:schemeClr val="bg2">
                    <a:lumMod val="50000"/>
                  </a:schemeClr>
                </a:solidFill>
              </a:rPr>
              <a:t>2024</a:t>
            </a:r>
            <a:r>
              <a:rPr lang="ja-JP" altLang="en-US" sz="1000">
                <a:solidFill>
                  <a:schemeClr val="bg2">
                    <a:lumMod val="50000"/>
                  </a:schemeClr>
                </a:solidFill>
              </a:rPr>
              <a:t>）令和</a:t>
            </a:r>
            <a:r>
              <a:rPr lang="en-US" altLang="ja-JP" sz="1000" dirty="0">
                <a:solidFill>
                  <a:schemeClr val="bg2">
                    <a:lumMod val="50000"/>
                  </a:schemeClr>
                </a:solidFill>
              </a:rPr>
              <a:t>6</a:t>
            </a:r>
            <a:r>
              <a:rPr lang="ja-JP" altLang="en-US" sz="1000" dirty="0">
                <a:solidFill>
                  <a:schemeClr val="bg2">
                    <a:lumMod val="50000"/>
                  </a:schemeClr>
                </a:solidFill>
              </a:rPr>
              <a:t>年能登半島地震に係る被害状況等について（速報），令和</a:t>
            </a:r>
            <a:r>
              <a:rPr lang="en-US" altLang="ja-JP" sz="1000" dirty="0">
                <a:solidFill>
                  <a:schemeClr val="bg2">
                    <a:lumMod val="50000"/>
                  </a:schemeClr>
                </a:solidFill>
              </a:rPr>
              <a:t>6</a:t>
            </a:r>
            <a:r>
              <a:rPr lang="ja-JP" altLang="en-US" sz="1000" dirty="0">
                <a:solidFill>
                  <a:schemeClr val="bg2">
                    <a:lumMod val="50000"/>
                  </a:schemeClr>
                </a:solidFill>
              </a:rPr>
              <a:t>年</a:t>
            </a:r>
            <a:r>
              <a:rPr lang="en-US" altLang="ja-JP" sz="1000" dirty="0">
                <a:solidFill>
                  <a:schemeClr val="bg2">
                    <a:lumMod val="50000"/>
                  </a:schemeClr>
                </a:solidFill>
              </a:rPr>
              <a:t>1</a:t>
            </a:r>
            <a:r>
              <a:rPr lang="ja-JP" altLang="en-US" sz="1000" dirty="0">
                <a:solidFill>
                  <a:schemeClr val="bg2">
                    <a:lumMod val="50000"/>
                  </a:schemeClr>
                </a:solidFill>
              </a:rPr>
              <a:t>月</a:t>
            </a:r>
            <a:r>
              <a:rPr lang="en-US" altLang="ja-JP" sz="1000" dirty="0">
                <a:solidFill>
                  <a:schemeClr val="bg2">
                    <a:lumMod val="50000"/>
                  </a:schemeClr>
                </a:solidFill>
              </a:rPr>
              <a:t>2</a:t>
            </a:r>
            <a:r>
              <a:rPr lang="ja-JP" altLang="en-US" sz="1000" dirty="0">
                <a:solidFill>
                  <a:schemeClr val="bg2">
                    <a:lumMod val="50000"/>
                  </a:schemeClr>
                </a:solidFill>
              </a:rPr>
              <a:t>日</a:t>
            </a:r>
            <a:r>
              <a:rPr lang="en-US" altLang="ja-JP" sz="1000" dirty="0">
                <a:solidFill>
                  <a:schemeClr val="bg2">
                    <a:lumMod val="50000"/>
                  </a:schemeClr>
                </a:solidFill>
              </a:rPr>
              <a:t>7</a:t>
            </a:r>
            <a:r>
              <a:rPr lang="ja-JP" altLang="en-US" sz="1000" dirty="0">
                <a:solidFill>
                  <a:schemeClr val="bg2">
                    <a:lumMod val="50000"/>
                  </a:schemeClr>
                </a:solidFill>
              </a:rPr>
              <a:t>時</a:t>
            </a:r>
            <a:r>
              <a:rPr lang="en-US" altLang="ja-JP" sz="1000" dirty="0">
                <a:solidFill>
                  <a:schemeClr val="bg2">
                    <a:lumMod val="50000"/>
                  </a:schemeClr>
                </a:solidFill>
              </a:rPr>
              <a:t>00</a:t>
            </a:r>
            <a:r>
              <a:rPr lang="ja-JP" altLang="en-US" sz="1000" dirty="0">
                <a:solidFill>
                  <a:schemeClr val="bg2">
                    <a:lumMod val="50000"/>
                  </a:schemeClr>
                </a:solidFill>
              </a:rPr>
              <a:t>分現在，内閣府</a:t>
            </a:r>
            <a:endParaRPr lang="zh-CN" altLang="en-US" sz="1000" dirty="0">
              <a:solidFill>
                <a:schemeClr val="bg2">
                  <a:lumMod val="50000"/>
                </a:schemeClr>
              </a:solidFill>
            </a:endParaRPr>
          </a:p>
        </p:txBody>
      </p:sp>
      <p:sp>
        <p:nvSpPr>
          <p:cNvPr id="10" name="文本框 9">
            <a:extLst>
              <a:ext uri="{FF2B5EF4-FFF2-40B4-BE49-F238E27FC236}">
                <a16:creationId xmlns:a16="http://schemas.microsoft.com/office/drawing/2014/main" id="{EB1548BE-ADA0-46C2-8902-FEC702F47761}"/>
              </a:ext>
            </a:extLst>
          </p:cNvPr>
          <p:cNvSpPr txBox="1"/>
          <p:nvPr/>
        </p:nvSpPr>
        <p:spPr>
          <a:xfrm>
            <a:off x="8181403" y="1455052"/>
            <a:ext cx="410966" cy="369332"/>
          </a:xfrm>
          <a:prstGeom prst="rect">
            <a:avLst/>
          </a:prstGeom>
          <a:noFill/>
        </p:spPr>
        <p:txBody>
          <a:bodyPr wrap="square" rtlCol="0">
            <a:spAutoFit/>
          </a:bodyPr>
          <a:lstStyle/>
          <a:p>
            <a:r>
              <a:rPr lang="en-US" altLang="zh-CN" dirty="0"/>
              <a:t>[3]</a:t>
            </a:r>
            <a:endParaRPr lang="zh-CN" altLang="en-US" dirty="0"/>
          </a:p>
        </p:txBody>
      </p:sp>
      <p:sp>
        <p:nvSpPr>
          <p:cNvPr id="3" name="Rectangle: Rounded Corners 16">
            <a:extLst>
              <a:ext uri="{FF2B5EF4-FFF2-40B4-BE49-F238E27FC236}">
                <a16:creationId xmlns:a16="http://schemas.microsoft.com/office/drawing/2014/main" id="{FA474B31-5D46-B315-6193-3CDEC9BCEBAE}"/>
              </a:ext>
            </a:extLst>
          </p:cNvPr>
          <p:cNvSpPr/>
          <p:nvPr/>
        </p:nvSpPr>
        <p:spPr>
          <a:xfrm>
            <a:off x="3870989" y="3956509"/>
            <a:ext cx="2738190" cy="10959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JP"/>
              <a:t>实时</a:t>
            </a:r>
            <a:r>
              <a:rPr lang="ja-JP" altLang="en-US"/>
              <a:t>灾害情况推送</a:t>
            </a:r>
            <a:endParaRPr lang="ja-JP" altLang="en-US" dirty="0"/>
          </a:p>
          <a:p>
            <a:pPr algn="ctr"/>
            <a:endParaRPr lang="en-US" dirty="0"/>
          </a:p>
        </p:txBody>
      </p:sp>
      <p:sp>
        <p:nvSpPr>
          <p:cNvPr id="5" name="矩形 15">
            <a:extLst>
              <a:ext uri="{FF2B5EF4-FFF2-40B4-BE49-F238E27FC236}">
                <a16:creationId xmlns:a16="http://schemas.microsoft.com/office/drawing/2014/main" id="{41168879-3B03-5BD4-4D1F-BD7F12ACBB18}"/>
              </a:ext>
            </a:extLst>
          </p:cNvPr>
          <p:cNvSpPr/>
          <p:nvPr/>
        </p:nvSpPr>
        <p:spPr>
          <a:xfrm>
            <a:off x="8592369" y="2439847"/>
            <a:ext cx="1340003" cy="292510"/>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189993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a:extLst>
              <a:ext uri="{FF2B5EF4-FFF2-40B4-BE49-F238E27FC236}">
                <a16:creationId xmlns:a16="http://schemas.microsoft.com/office/drawing/2014/main" id="{A0B25C46-A994-41F3-B546-AC319525A210}"/>
              </a:ext>
            </a:extLst>
          </p:cNvPr>
          <p:cNvGrpSpPr/>
          <p:nvPr/>
        </p:nvGrpSpPr>
        <p:grpSpPr>
          <a:xfrm>
            <a:off x="328372" y="2410010"/>
            <a:ext cx="11535255" cy="3997723"/>
            <a:chOff x="253753" y="1920843"/>
            <a:chExt cx="11535255" cy="3997723"/>
          </a:xfrm>
        </p:grpSpPr>
        <p:pic>
          <p:nvPicPr>
            <p:cNvPr id="11" name="Picture 2" descr="ChatGPT Logo - Chat gpt Icon on White Background 21059827 Vector Art at  Vecteezy">
              <a:extLst>
                <a:ext uri="{FF2B5EF4-FFF2-40B4-BE49-F238E27FC236}">
                  <a16:creationId xmlns:a16="http://schemas.microsoft.com/office/drawing/2014/main" id="{A51E1ECE-3167-3BB4-12EF-4EAB323784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6962" y="3295589"/>
              <a:ext cx="682486" cy="682486"/>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组合 23">
              <a:extLst>
                <a:ext uri="{FF2B5EF4-FFF2-40B4-BE49-F238E27FC236}">
                  <a16:creationId xmlns:a16="http://schemas.microsoft.com/office/drawing/2014/main" id="{F0D673A6-E9B3-46F0-9D0B-264281964759}"/>
                </a:ext>
              </a:extLst>
            </p:cNvPr>
            <p:cNvGrpSpPr/>
            <p:nvPr/>
          </p:nvGrpSpPr>
          <p:grpSpPr>
            <a:xfrm>
              <a:off x="253753" y="1920843"/>
              <a:ext cx="11535255" cy="3997723"/>
              <a:chOff x="312749" y="2710937"/>
              <a:chExt cx="11535255" cy="3997723"/>
            </a:xfrm>
          </p:grpSpPr>
          <p:sp>
            <p:nvSpPr>
              <p:cNvPr id="6" name="Arrow: Right 5">
                <a:extLst>
                  <a:ext uri="{FF2B5EF4-FFF2-40B4-BE49-F238E27FC236}">
                    <a16:creationId xmlns:a16="http://schemas.microsoft.com/office/drawing/2014/main" id="{C1829196-EAAF-84D6-DFAC-FAE69DD6EA11}"/>
                  </a:ext>
                </a:extLst>
              </p:cNvPr>
              <p:cNvSpPr/>
              <p:nvPr/>
            </p:nvSpPr>
            <p:spPr>
              <a:xfrm>
                <a:off x="3767446" y="4739403"/>
                <a:ext cx="312183" cy="3539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组合 22">
                <a:extLst>
                  <a:ext uri="{FF2B5EF4-FFF2-40B4-BE49-F238E27FC236}">
                    <a16:creationId xmlns:a16="http://schemas.microsoft.com/office/drawing/2014/main" id="{60796647-6692-4D35-A937-B0129A148A84}"/>
                  </a:ext>
                </a:extLst>
              </p:cNvPr>
              <p:cNvGrpSpPr/>
              <p:nvPr/>
            </p:nvGrpSpPr>
            <p:grpSpPr>
              <a:xfrm>
                <a:off x="312749" y="2710937"/>
                <a:ext cx="11535255" cy="3997723"/>
                <a:chOff x="-445645" y="1715223"/>
                <a:chExt cx="11535255" cy="3997723"/>
              </a:xfrm>
            </p:grpSpPr>
            <p:sp>
              <p:nvSpPr>
                <p:cNvPr id="26" name="矩形: 圆角 25">
                  <a:extLst>
                    <a:ext uri="{FF2B5EF4-FFF2-40B4-BE49-F238E27FC236}">
                      <a16:creationId xmlns:a16="http://schemas.microsoft.com/office/drawing/2014/main" id="{4B11A60C-DE52-4088-808C-8BC0D06108F2}"/>
                    </a:ext>
                  </a:extLst>
                </p:cNvPr>
                <p:cNvSpPr/>
                <p:nvPr/>
              </p:nvSpPr>
              <p:spPr>
                <a:xfrm>
                  <a:off x="6637346" y="2998964"/>
                  <a:ext cx="2224356" cy="1983857"/>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CN" b="1" dirty="0">
                    <a:solidFill>
                      <a:schemeClr val="tx1"/>
                    </a:solidFill>
                  </a:endParaRPr>
                </a:p>
                <a:p>
                  <a:endParaRPr lang="en-US" altLang="zh-CN" b="1" dirty="0">
                    <a:solidFill>
                      <a:schemeClr val="tx1"/>
                    </a:solidFill>
                  </a:endParaRPr>
                </a:p>
                <a:p>
                  <a:endParaRPr lang="en-US" altLang="zh-CN" b="1" dirty="0">
                    <a:solidFill>
                      <a:schemeClr val="tx1"/>
                    </a:solidFill>
                  </a:endParaRPr>
                </a:p>
                <a:p>
                  <a:r>
                    <a:rPr lang="en-US" altLang="zh-CN" b="1" dirty="0">
                      <a:solidFill>
                        <a:schemeClr val="tx1"/>
                      </a:solidFill>
                    </a:rPr>
                    <a:t>Prompts:</a:t>
                  </a:r>
                </a:p>
                <a:p>
                  <a:r>
                    <a:rPr lang="en-US" altLang="zh-CN" b="1" dirty="0">
                      <a:solidFill>
                        <a:schemeClr val="tx1"/>
                      </a:solidFill>
                    </a:rPr>
                    <a:t>  </a:t>
                  </a:r>
                  <a:r>
                    <a:rPr lang="en-US" altLang="zh-CN" b="1" dirty="0">
                      <a:solidFill>
                        <a:srgbClr val="FF0000"/>
                      </a:solidFill>
                    </a:rPr>
                    <a:t>1. </a:t>
                  </a:r>
                  <a:r>
                    <a:rPr lang="zh-CN" altLang="en-US" b="1" dirty="0">
                      <a:solidFill>
                        <a:srgbClr val="FF0000"/>
                      </a:solidFill>
                    </a:rPr>
                    <a:t>考虑统计信息</a:t>
                  </a:r>
                </a:p>
                <a:p>
                  <a:r>
                    <a:rPr lang="en-US" altLang="zh-CN" b="1" dirty="0">
                      <a:solidFill>
                        <a:srgbClr val="FF0000"/>
                      </a:solidFill>
                    </a:rPr>
                    <a:t>  2. </a:t>
                  </a:r>
                  <a:r>
                    <a:rPr lang="zh-CN" altLang="en-US" b="1" dirty="0">
                      <a:solidFill>
                        <a:srgbClr val="FF0000"/>
                      </a:solidFill>
                    </a:rPr>
                    <a:t>考虑地理信息</a:t>
                  </a:r>
                </a:p>
                <a:p>
                  <a:r>
                    <a:rPr lang="en-US" altLang="zh-CN" b="1" dirty="0">
                      <a:solidFill>
                        <a:srgbClr val="FF0000"/>
                      </a:solidFill>
                    </a:rPr>
                    <a:t>  3. </a:t>
                  </a:r>
                  <a:r>
                    <a:rPr lang="zh-CN" altLang="en-US" b="1" dirty="0">
                      <a:solidFill>
                        <a:srgbClr val="FF0000"/>
                      </a:solidFill>
                    </a:rPr>
                    <a:t>生成格式</a:t>
                  </a:r>
                </a:p>
                <a:p>
                  <a:pPr algn="ctr"/>
                  <a:endParaRPr lang="en-US" altLang="zh-CN" b="1" dirty="0">
                    <a:solidFill>
                      <a:schemeClr val="tx1"/>
                    </a:solidFill>
                  </a:endParaRPr>
                </a:p>
              </p:txBody>
            </p:sp>
            <p:sp>
              <p:nvSpPr>
                <p:cNvPr id="62" name="矩形: 圆角 61">
                  <a:extLst>
                    <a:ext uri="{FF2B5EF4-FFF2-40B4-BE49-F238E27FC236}">
                      <a16:creationId xmlns:a16="http://schemas.microsoft.com/office/drawing/2014/main" id="{C8082737-CC46-430C-813E-B6DD7D9ADC39}"/>
                    </a:ext>
                  </a:extLst>
                </p:cNvPr>
                <p:cNvSpPr/>
                <p:nvPr/>
              </p:nvSpPr>
              <p:spPr>
                <a:xfrm>
                  <a:off x="6157284" y="1715223"/>
                  <a:ext cx="2896739" cy="7035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rPr>
                    <a:t>地理・人口などのデータ</a:t>
                  </a:r>
                  <a:endParaRPr lang="zh-CN" altLang="en-US" dirty="0">
                    <a:solidFill>
                      <a:schemeClr val="bg1"/>
                    </a:solidFill>
                  </a:endParaRPr>
                </a:p>
              </p:txBody>
            </p:sp>
            <p:sp>
              <p:nvSpPr>
                <p:cNvPr id="33" name="矩形: 圆角 32">
                  <a:extLst>
                    <a:ext uri="{FF2B5EF4-FFF2-40B4-BE49-F238E27FC236}">
                      <a16:creationId xmlns:a16="http://schemas.microsoft.com/office/drawing/2014/main" id="{9BF29983-FC13-4C11-9703-5526928017CE}"/>
                    </a:ext>
                  </a:extLst>
                </p:cNvPr>
                <p:cNvSpPr/>
                <p:nvPr/>
              </p:nvSpPr>
              <p:spPr>
                <a:xfrm>
                  <a:off x="1914894" y="3161825"/>
                  <a:ext cx="1039644" cy="15557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Cleaned</a:t>
                  </a:r>
                </a:p>
                <a:p>
                  <a:r>
                    <a:rPr lang="en-US" altLang="zh-CN" dirty="0"/>
                    <a:t>Twitter </a:t>
                  </a:r>
                </a:p>
                <a:p>
                  <a:r>
                    <a:rPr lang="en-US" altLang="zh-CN" dirty="0"/>
                    <a:t>data</a:t>
                  </a:r>
                </a:p>
              </p:txBody>
            </p:sp>
            <p:sp>
              <p:nvSpPr>
                <p:cNvPr id="35" name="矩形: 圆角 34">
                  <a:extLst>
                    <a:ext uri="{FF2B5EF4-FFF2-40B4-BE49-F238E27FC236}">
                      <a16:creationId xmlns:a16="http://schemas.microsoft.com/office/drawing/2014/main" id="{7DAFEAFE-2C8D-4692-A624-5117DFD1E59F}"/>
                    </a:ext>
                  </a:extLst>
                </p:cNvPr>
                <p:cNvSpPr/>
                <p:nvPr/>
              </p:nvSpPr>
              <p:spPr>
                <a:xfrm>
                  <a:off x="4766199" y="2977503"/>
                  <a:ext cx="1623479" cy="19838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dirty="0"/>
                    <a:t>1</a:t>
                  </a:r>
                  <a:r>
                    <a:rPr lang="ja-JP" altLang="en-US" dirty="0"/>
                    <a:t>．避難規模</a:t>
                  </a:r>
                  <a:br>
                    <a:rPr lang="ja-JP" altLang="en-US" dirty="0"/>
                  </a:br>
                  <a:r>
                    <a:rPr lang="en-US" altLang="ja-JP" dirty="0"/>
                    <a:t>2</a:t>
                  </a:r>
                  <a:r>
                    <a:rPr lang="ja-JP" altLang="en-US" dirty="0"/>
                    <a:t>．建物の損傷状況</a:t>
                  </a:r>
                  <a:br>
                    <a:rPr lang="ja-JP" altLang="en-US" dirty="0"/>
                  </a:br>
                  <a:r>
                    <a:rPr lang="en-US" altLang="ja-JP" dirty="0"/>
                    <a:t>3</a:t>
                  </a:r>
                  <a:r>
                    <a:rPr lang="ja-JP" altLang="en-US" dirty="0"/>
                    <a:t>．医療ニーズ</a:t>
                  </a:r>
                  <a:endParaRPr lang="en-US" altLang="zh-CN" dirty="0"/>
                </a:p>
              </p:txBody>
            </p:sp>
            <p:sp>
              <p:nvSpPr>
                <p:cNvPr id="38" name="Arrow: Right 7">
                  <a:extLst>
                    <a:ext uri="{FF2B5EF4-FFF2-40B4-BE49-F238E27FC236}">
                      <a16:creationId xmlns:a16="http://schemas.microsoft.com/office/drawing/2014/main" id="{DE5F0858-2840-40D1-BAAA-ACC1ED347141}"/>
                    </a:ext>
                  </a:extLst>
                </p:cNvPr>
                <p:cNvSpPr/>
                <p:nvPr/>
              </p:nvSpPr>
              <p:spPr>
                <a:xfrm>
                  <a:off x="4305128" y="3754649"/>
                  <a:ext cx="626569" cy="3539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Cls</a:t>
                  </a:r>
                  <a:endParaRPr lang="en-US" dirty="0"/>
                </a:p>
              </p:txBody>
            </p:sp>
            <p:sp>
              <p:nvSpPr>
                <p:cNvPr id="40" name="箭头: 右 39">
                  <a:extLst>
                    <a:ext uri="{FF2B5EF4-FFF2-40B4-BE49-F238E27FC236}">
                      <a16:creationId xmlns:a16="http://schemas.microsoft.com/office/drawing/2014/main" id="{BCC6293A-1F43-4604-9D36-BD300B13B97A}"/>
                    </a:ext>
                  </a:extLst>
                </p:cNvPr>
                <p:cNvSpPr/>
                <p:nvPr/>
              </p:nvSpPr>
              <p:spPr>
                <a:xfrm>
                  <a:off x="8899024" y="3725950"/>
                  <a:ext cx="437554" cy="4274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矩形: 圆角 24">
                  <a:extLst>
                    <a:ext uri="{FF2B5EF4-FFF2-40B4-BE49-F238E27FC236}">
                      <a16:creationId xmlns:a16="http://schemas.microsoft.com/office/drawing/2014/main" id="{AAB1B990-4037-4B69-9192-AE601CDC71AF}"/>
                    </a:ext>
                  </a:extLst>
                </p:cNvPr>
                <p:cNvSpPr/>
                <p:nvPr/>
              </p:nvSpPr>
              <p:spPr>
                <a:xfrm>
                  <a:off x="9373900" y="3421484"/>
                  <a:ext cx="1715710" cy="9983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Generated</a:t>
                  </a:r>
                </a:p>
                <a:p>
                  <a:pPr algn="ctr"/>
                  <a:r>
                    <a:rPr lang="en-US" altLang="zh-CN" dirty="0"/>
                    <a:t>report </a:t>
                  </a:r>
                </a:p>
              </p:txBody>
            </p:sp>
            <p:sp>
              <p:nvSpPr>
                <p:cNvPr id="3" name="矩形: 圆角 25">
                  <a:extLst>
                    <a:ext uri="{FF2B5EF4-FFF2-40B4-BE49-F238E27FC236}">
                      <a16:creationId xmlns:a16="http://schemas.microsoft.com/office/drawing/2014/main" id="{29F4141E-DFD2-CCE1-4742-8486A8466E82}"/>
                    </a:ext>
                  </a:extLst>
                </p:cNvPr>
                <p:cNvSpPr/>
                <p:nvPr/>
              </p:nvSpPr>
              <p:spPr>
                <a:xfrm>
                  <a:off x="3365595" y="3161825"/>
                  <a:ext cx="1033907" cy="1575218"/>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Text</a:t>
                  </a:r>
                  <a:br>
                    <a:rPr lang="en-US" altLang="zh-CN" dirty="0">
                      <a:solidFill>
                        <a:schemeClr val="tx1"/>
                      </a:solidFill>
                    </a:rPr>
                  </a:br>
                  <a:r>
                    <a:rPr lang="en-US" altLang="zh-CN" dirty="0">
                      <a:solidFill>
                        <a:schemeClr val="tx1"/>
                      </a:solidFill>
                    </a:rPr>
                    <a:t>classifier</a:t>
                  </a:r>
                  <a:endParaRPr lang="en-US" altLang="zh-CN" b="1" dirty="0">
                    <a:solidFill>
                      <a:schemeClr val="tx1"/>
                    </a:solidFill>
                  </a:endParaRPr>
                </a:p>
              </p:txBody>
            </p:sp>
            <p:sp>
              <p:nvSpPr>
                <p:cNvPr id="5" name="Arrow: Right 4">
                  <a:extLst>
                    <a:ext uri="{FF2B5EF4-FFF2-40B4-BE49-F238E27FC236}">
                      <a16:creationId xmlns:a16="http://schemas.microsoft.com/office/drawing/2014/main" id="{FF4D0C51-C5B0-5DC3-2F44-782D1BCD5A75}"/>
                    </a:ext>
                  </a:extLst>
                </p:cNvPr>
                <p:cNvSpPr/>
                <p:nvPr/>
              </p:nvSpPr>
              <p:spPr>
                <a:xfrm>
                  <a:off x="6218674" y="3762718"/>
                  <a:ext cx="381350" cy="3539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rrow: Right 8">
                  <a:extLst>
                    <a:ext uri="{FF2B5EF4-FFF2-40B4-BE49-F238E27FC236}">
                      <a16:creationId xmlns:a16="http://schemas.microsoft.com/office/drawing/2014/main" id="{36531C7B-F491-4CE6-AE43-6C4C6503F282}"/>
                    </a:ext>
                  </a:extLst>
                </p:cNvPr>
                <p:cNvSpPr/>
                <p:nvPr/>
              </p:nvSpPr>
              <p:spPr>
                <a:xfrm rot="5400000">
                  <a:off x="7392643" y="2531911"/>
                  <a:ext cx="426019" cy="3539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组合 25">
                  <a:extLst>
                    <a:ext uri="{FF2B5EF4-FFF2-40B4-BE49-F238E27FC236}">
                      <a16:creationId xmlns:a16="http://schemas.microsoft.com/office/drawing/2014/main" id="{4B9B1B6C-3139-7BC8-8C92-882D19FC6858}"/>
                    </a:ext>
                  </a:extLst>
                </p:cNvPr>
                <p:cNvGrpSpPr/>
                <p:nvPr/>
              </p:nvGrpSpPr>
              <p:grpSpPr>
                <a:xfrm>
                  <a:off x="-445645" y="2595782"/>
                  <a:ext cx="1553810" cy="2747298"/>
                  <a:chOff x="1337396" y="2016942"/>
                  <a:chExt cx="1553810" cy="2747298"/>
                </a:xfrm>
              </p:grpSpPr>
              <p:pic>
                <p:nvPicPr>
                  <p:cNvPr id="18" name="图片 5">
                    <a:extLst>
                      <a:ext uri="{FF2B5EF4-FFF2-40B4-BE49-F238E27FC236}">
                        <a16:creationId xmlns:a16="http://schemas.microsoft.com/office/drawing/2014/main" id="{F393851B-61EA-25FB-3359-DDAD722D78F8}"/>
                      </a:ext>
                    </a:extLst>
                  </p:cNvPr>
                  <p:cNvPicPr>
                    <a:picLocks noChangeAspect="1"/>
                  </p:cNvPicPr>
                  <p:nvPr/>
                </p:nvPicPr>
                <p:blipFill rotWithShape="1">
                  <a:blip r:embed="rId4"/>
                  <a:srcRect l="3512" t="19690" r="79134" b="8564"/>
                  <a:stretch>
                    <a:fillRect/>
                  </a:stretch>
                </p:blipFill>
                <p:spPr>
                  <a:xfrm>
                    <a:off x="1337396" y="2016942"/>
                    <a:ext cx="1122569" cy="2747298"/>
                  </a:xfrm>
                  <a:prstGeom prst="rect">
                    <a:avLst/>
                  </a:prstGeom>
                </p:spPr>
              </p:pic>
              <p:sp>
                <p:nvSpPr>
                  <p:cNvPr id="19" name="文本框 24">
                    <a:extLst>
                      <a:ext uri="{FF2B5EF4-FFF2-40B4-BE49-F238E27FC236}">
                        <a16:creationId xmlns:a16="http://schemas.microsoft.com/office/drawing/2014/main" id="{2A31A81E-F6A1-FBF2-C352-D5BFA6F09D6C}"/>
                      </a:ext>
                    </a:extLst>
                  </p:cNvPr>
                  <p:cNvSpPr txBox="1"/>
                  <p:nvPr/>
                </p:nvSpPr>
                <p:spPr>
                  <a:xfrm>
                    <a:off x="1768637" y="2598365"/>
                    <a:ext cx="1122569" cy="369332"/>
                  </a:xfrm>
                  <a:prstGeom prst="rect">
                    <a:avLst/>
                  </a:prstGeom>
                  <a:noFill/>
                </p:spPr>
                <p:txBody>
                  <a:bodyPr wrap="square" rtlCol="0">
                    <a:spAutoFit/>
                  </a:bodyPr>
                  <a:lstStyle/>
                  <a:p>
                    <a:r>
                      <a:rPr lang="en-US" altLang="zh-CN" b="1" dirty="0"/>
                      <a:t>Raw Data</a:t>
                    </a:r>
                    <a:endParaRPr lang="zh-CN" altLang="en-US" b="1" dirty="0"/>
                  </a:p>
                </p:txBody>
              </p:sp>
            </p:grpSp>
            <p:sp>
              <p:nvSpPr>
                <p:cNvPr id="20" name="Arrow: Right 7">
                  <a:extLst>
                    <a:ext uri="{FF2B5EF4-FFF2-40B4-BE49-F238E27FC236}">
                      <a16:creationId xmlns:a16="http://schemas.microsoft.com/office/drawing/2014/main" id="{980A8EA3-21C9-59BA-2DC6-C1AB4D4CB6EB}"/>
                    </a:ext>
                  </a:extLst>
                </p:cNvPr>
                <p:cNvSpPr/>
                <p:nvPr/>
              </p:nvSpPr>
              <p:spPr>
                <a:xfrm>
                  <a:off x="452076" y="3702350"/>
                  <a:ext cx="1418289" cy="4688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Preprocess</a:t>
                  </a:r>
                </a:p>
              </p:txBody>
            </p:sp>
            <p:sp>
              <p:nvSpPr>
                <p:cNvPr id="22" name="箭头: 手杖形 21">
                  <a:extLst>
                    <a:ext uri="{FF2B5EF4-FFF2-40B4-BE49-F238E27FC236}">
                      <a16:creationId xmlns:a16="http://schemas.microsoft.com/office/drawing/2014/main" id="{3651467B-842C-4436-B8FF-D3ECD7F3D4F3}"/>
                    </a:ext>
                  </a:extLst>
                </p:cNvPr>
                <p:cNvSpPr/>
                <p:nvPr/>
              </p:nvSpPr>
              <p:spPr>
                <a:xfrm rot="10800000" flipH="1">
                  <a:off x="2382573" y="4821981"/>
                  <a:ext cx="5504991" cy="890965"/>
                </a:xfrm>
                <a:prstGeom prst="uturnArrow">
                  <a:avLst>
                    <a:gd name="adj1" fmla="val 15887"/>
                    <a:gd name="adj2" fmla="val 25000"/>
                    <a:gd name="adj3" fmla="val 25000"/>
                    <a:gd name="adj4" fmla="val 43750"/>
                    <a:gd name="adj5" fmla="val 7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pSp>
      </p:grpSp>
      <p:sp>
        <p:nvSpPr>
          <p:cNvPr id="2" name="Title 1">
            <a:extLst>
              <a:ext uri="{FF2B5EF4-FFF2-40B4-BE49-F238E27FC236}">
                <a16:creationId xmlns:a16="http://schemas.microsoft.com/office/drawing/2014/main" id="{BE9A76BC-8139-8BE2-7C66-33F5FB41AA8B}"/>
              </a:ext>
            </a:extLst>
          </p:cNvPr>
          <p:cNvSpPr>
            <a:spLocks noGrp="1"/>
          </p:cNvSpPr>
          <p:nvPr>
            <p:ph type="title"/>
          </p:nvPr>
        </p:nvSpPr>
        <p:spPr/>
        <p:txBody>
          <a:bodyPr/>
          <a:lstStyle/>
          <a:p>
            <a:r>
              <a:rPr lang="en-US" altLang="ja-JP" dirty="0"/>
              <a:t>Method</a:t>
            </a:r>
            <a:endParaRPr lang="en-US" dirty="0"/>
          </a:p>
        </p:txBody>
      </p:sp>
      <p:sp>
        <p:nvSpPr>
          <p:cNvPr id="4" name="Slide Number Placeholder 3">
            <a:extLst>
              <a:ext uri="{FF2B5EF4-FFF2-40B4-BE49-F238E27FC236}">
                <a16:creationId xmlns:a16="http://schemas.microsoft.com/office/drawing/2014/main" id="{F2E2D347-0E03-B9C4-6733-AB661CD8A018}"/>
              </a:ext>
            </a:extLst>
          </p:cNvPr>
          <p:cNvSpPr>
            <a:spLocks noGrp="1"/>
          </p:cNvSpPr>
          <p:nvPr>
            <p:ph type="sldNum" sz="quarter" idx="12"/>
          </p:nvPr>
        </p:nvSpPr>
        <p:spPr/>
        <p:txBody>
          <a:bodyPr/>
          <a:lstStyle/>
          <a:p>
            <a:fld id="{6732DEBC-3A3D-4A20-A97E-1DC1DBFA9CD8}" type="slidenum">
              <a:rPr kumimoji="1" lang="ja-JP" altLang="en-US" smtClean="0"/>
              <a:pPr/>
              <a:t>6</a:t>
            </a:fld>
            <a:endParaRPr kumimoji="1" lang="ja-JP" altLang="en-US" dirty="0"/>
          </a:p>
        </p:txBody>
      </p:sp>
      <p:sp>
        <p:nvSpPr>
          <p:cNvPr id="14" name="TextBox 13">
            <a:extLst>
              <a:ext uri="{FF2B5EF4-FFF2-40B4-BE49-F238E27FC236}">
                <a16:creationId xmlns:a16="http://schemas.microsoft.com/office/drawing/2014/main" id="{B1580CB1-95DD-E52D-514B-24234A1E36B1}"/>
              </a:ext>
            </a:extLst>
          </p:cNvPr>
          <p:cNvSpPr txBox="1"/>
          <p:nvPr/>
        </p:nvSpPr>
        <p:spPr>
          <a:xfrm>
            <a:off x="614993" y="1486680"/>
            <a:ext cx="9276825" cy="923330"/>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分類：必要な統計情報を提供する</a:t>
            </a:r>
            <a:endParaRPr lang="en-US" altLang="ja-JP" dirty="0"/>
          </a:p>
          <a:p>
            <a:pPr marL="285750" indent="-285750">
              <a:buFont typeface="Arial" panose="020B0604020202020204" pitchFamily="34" charset="0"/>
              <a:buChar char="•"/>
            </a:pPr>
            <a:r>
              <a:rPr lang="ja-JP" altLang="en-US" dirty="0"/>
              <a:t>被災規模を推計するために必要な地域人口などの事前情報を提供する</a:t>
            </a:r>
            <a:endParaRPr lang="en-US" altLang="ja-JP" dirty="0"/>
          </a:p>
          <a:p>
            <a:pPr marL="285750" indent="-285750">
              <a:buFont typeface="Arial" panose="020B0604020202020204" pitchFamily="34" charset="0"/>
              <a:buChar char="•"/>
            </a:pPr>
            <a:r>
              <a:rPr lang="en-US" altLang="ja-JP" dirty="0"/>
              <a:t>Twitter</a:t>
            </a:r>
            <a:r>
              <a:rPr lang="ja-JP" altLang="en-US" dirty="0"/>
              <a:t>データ：要約生成に用いる</a:t>
            </a:r>
            <a:endParaRPr lang="en-US" dirty="0"/>
          </a:p>
        </p:txBody>
      </p:sp>
      <p:sp>
        <p:nvSpPr>
          <p:cNvPr id="16" name="TextBox 15">
            <a:extLst>
              <a:ext uri="{FF2B5EF4-FFF2-40B4-BE49-F238E27FC236}">
                <a16:creationId xmlns:a16="http://schemas.microsoft.com/office/drawing/2014/main" id="{3AF68FE9-EC98-74B8-5213-3ACD41D45AF7}"/>
              </a:ext>
            </a:extLst>
          </p:cNvPr>
          <p:cNvSpPr txBox="1"/>
          <p:nvPr/>
        </p:nvSpPr>
        <p:spPr>
          <a:xfrm>
            <a:off x="5423853" y="6605192"/>
            <a:ext cx="7591425" cy="261610"/>
          </a:xfrm>
          <a:prstGeom prst="rect">
            <a:avLst/>
          </a:prstGeom>
          <a:noFill/>
        </p:spPr>
        <p:txBody>
          <a:bodyPr wrap="square" rtlCol="0">
            <a:spAutoFit/>
          </a:bodyPr>
          <a:lstStyle/>
          <a:p>
            <a:pPr algn="ctr"/>
            <a:r>
              <a:rPr lang="en-US" sz="1100" dirty="0">
                <a:solidFill>
                  <a:schemeClr val="bg2">
                    <a:lumMod val="50000"/>
                  </a:schemeClr>
                </a:solidFill>
              </a:rPr>
              <a:t>*</a:t>
            </a:r>
            <a:r>
              <a:rPr lang="ja-JP" altLang="en-US" sz="1100" dirty="0">
                <a:solidFill>
                  <a:schemeClr val="bg2">
                    <a:lumMod val="50000"/>
                  </a:schemeClr>
                </a:solidFill>
              </a:rPr>
              <a:t>实时性が求められる比較的シンプルなタスクには、計算コストを抑えるために</a:t>
            </a:r>
            <a:r>
              <a:rPr lang="en-US" altLang="ja-JP" sz="1100" dirty="0">
                <a:solidFill>
                  <a:schemeClr val="bg2">
                    <a:lumMod val="50000"/>
                  </a:schemeClr>
                </a:solidFill>
              </a:rPr>
              <a:t>BERT</a:t>
            </a:r>
            <a:r>
              <a:rPr lang="ja-JP" altLang="en-US" sz="1100" dirty="0">
                <a:solidFill>
                  <a:schemeClr val="bg2">
                    <a:lumMod val="50000"/>
                  </a:schemeClr>
                </a:solidFill>
              </a:rPr>
              <a:t>を用いる。</a:t>
            </a:r>
            <a:endParaRPr lang="en-US" sz="1100" dirty="0">
              <a:solidFill>
                <a:schemeClr val="bg2">
                  <a:lumMod val="50000"/>
                </a:schemeClr>
              </a:solidFill>
            </a:endParaRPr>
          </a:p>
        </p:txBody>
      </p:sp>
      <p:sp>
        <p:nvSpPr>
          <p:cNvPr id="15" name="文本框 14">
            <a:extLst>
              <a:ext uri="{FF2B5EF4-FFF2-40B4-BE49-F238E27FC236}">
                <a16:creationId xmlns:a16="http://schemas.microsoft.com/office/drawing/2014/main" id="{DFFFA434-44FF-41DD-BD47-C3EEB73A2B3F}"/>
              </a:ext>
            </a:extLst>
          </p:cNvPr>
          <p:cNvSpPr txBox="1"/>
          <p:nvPr/>
        </p:nvSpPr>
        <p:spPr>
          <a:xfrm>
            <a:off x="4789837" y="5853201"/>
            <a:ext cx="2166883" cy="369332"/>
          </a:xfrm>
          <a:prstGeom prst="rect">
            <a:avLst/>
          </a:prstGeom>
          <a:noFill/>
        </p:spPr>
        <p:txBody>
          <a:bodyPr wrap="square" rtlCol="0">
            <a:spAutoFit/>
          </a:bodyPr>
          <a:lstStyle/>
          <a:p>
            <a:r>
              <a:rPr lang="ja-JP" altLang="en-US" dirty="0"/>
              <a:t>要約生成に用いる</a:t>
            </a:r>
            <a:endParaRPr lang="zh-CN" altLang="en-US" dirty="0"/>
          </a:p>
        </p:txBody>
      </p:sp>
    </p:spTree>
    <p:extLst>
      <p:ext uri="{BB962C8B-B14F-4D97-AF65-F5344CB8AC3E}">
        <p14:creationId xmlns:p14="http://schemas.microsoft.com/office/powerpoint/2010/main" val="564588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03000A-1C62-46D7-8A83-5EA25894400D}"/>
              </a:ext>
            </a:extLst>
          </p:cNvPr>
          <p:cNvSpPr>
            <a:spLocks noGrp="1"/>
          </p:cNvSpPr>
          <p:nvPr>
            <p:ph type="title"/>
          </p:nvPr>
        </p:nvSpPr>
        <p:spPr/>
        <p:txBody>
          <a:bodyPr/>
          <a:lstStyle/>
          <a:p>
            <a:r>
              <a:rPr lang="zh-CN" altLang="en-US" dirty="0"/>
              <a:t>テキスト分類器</a:t>
            </a:r>
          </a:p>
        </p:txBody>
      </p:sp>
      <p:sp>
        <p:nvSpPr>
          <p:cNvPr id="4" name="灯片编号占位符 3">
            <a:extLst>
              <a:ext uri="{FF2B5EF4-FFF2-40B4-BE49-F238E27FC236}">
                <a16:creationId xmlns:a16="http://schemas.microsoft.com/office/drawing/2014/main" id="{DF32AE7E-1068-4651-87F7-536BB2D0AE5F}"/>
              </a:ext>
            </a:extLst>
          </p:cNvPr>
          <p:cNvSpPr>
            <a:spLocks noGrp="1"/>
          </p:cNvSpPr>
          <p:nvPr>
            <p:ph type="sldNum" sz="quarter" idx="12"/>
          </p:nvPr>
        </p:nvSpPr>
        <p:spPr/>
        <p:txBody>
          <a:bodyPr/>
          <a:lstStyle/>
          <a:p>
            <a:fld id="{6732DEBC-3A3D-4A20-A97E-1DC1DBFA9CD8}" type="slidenum">
              <a:rPr kumimoji="1" lang="ja-JP" altLang="en-US" smtClean="0"/>
              <a:pPr/>
              <a:t>7</a:t>
            </a:fld>
            <a:endParaRPr kumimoji="1" lang="ja-JP" altLang="en-US" dirty="0"/>
          </a:p>
        </p:txBody>
      </p:sp>
      <p:sp>
        <p:nvSpPr>
          <p:cNvPr id="7" name="文本框 6">
            <a:extLst>
              <a:ext uri="{FF2B5EF4-FFF2-40B4-BE49-F238E27FC236}">
                <a16:creationId xmlns:a16="http://schemas.microsoft.com/office/drawing/2014/main" id="{F027E812-225F-4B02-B49E-C72062A9C314}"/>
              </a:ext>
            </a:extLst>
          </p:cNvPr>
          <p:cNvSpPr txBox="1"/>
          <p:nvPr/>
        </p:nvSpPr>
        <p:spPr>
          <a:xfrm>
            <a:off x="838200" y="1461121"/>
            <a:ext cx="9856304" cy="1477328"/>
          </a:xfrm>
          <a:prstGeom prst="rect">
            <a:avLst/>
          </a:prstGeom>
          <a:noFill/>
        </p:spPr>
        <p:txBody>
          <a:bodyPr wrap="square" rtlCol="0">
            <a:spAutoFit/>
          </a:bodyPr>
          <a:lstStyle/>
          <a:p>
            <a:r>
              <a:rPr lang="ja-JP" altLang="en-US"/>
              <a:t>分類機の構造</a:t>
            </a:r>
            <a:r>
              <a:rPr lang="en-US" altLang="ja-JP" dirty="0"/>
              <a:t>: Bert[1] </a:t>
            </a:r>
          </a:p>
          <a:p>
            <a:endParaRPr lang="en-US" altLang="ja-JP" dirty="0"/>
          </a:p>
          <a:p>
            <a:r>
              <a:rPr lang="ja-JP" altLang="en-US"/>
              <a:t>分類機の</a:t>
            </a:r>
            <a:r>
              <a:rPr lang="ja-JP" altLang="en-US" dirty="0"/>
              <a:t>最適化</a:t>
            </a:r>
            <a:endParaRPr lang="en-US" altLang="zh-CN" dirty="0"/>
          </a:p>
          <a:p>
            <a:pPr marL="285750" indent="-285750">
              <a:buFont typeface="Arial" panose="020B0604020202020204" pitchFamily="34" charset="0"/>
              <a:buChar char="•"/>
            </a:pPr>
            <a:r>
              <a:rPr lang="zh-CN" altLang="en-US" dirty="0"/>
              <a:t>事前学習済</a:t>
            </a:r>
            <a:r>
              <a:rPr lang="en-US" altLang="zh-CN" dirty="0"/>
              <a:t>Bert</a:t>
            </a:r>
            <a:r>
              <a:rPr lang="ja-JP" altLang="en-US" dirty="0"/>
              <a:t>そのまま使うと性能良くない可能性があるため、データセットを作って転移学習</a:t>
            </a:r>
            <a:r>
              <a:rPr lang="en-US" altLang="ja-JP" dirty="0"/>
              <a:t>(few-shot)</a:t>
            </a:r>
            <a:r>
              <a:rPr lang="ja-JP" altLang="en-US" dirty="0"/>
              <a:t>を行う</a:t>
            </a:r>
            <a:endParaRPr lang="zh-CN" altLang="en-US" dirty="0"/>
          </a:p>
        </p:txBody>
      </p:sp>
      <p:sp>
        <p:nvSpPr>
          <p:cNvPr id="10" name="文本框 9">
            <a:extLst>
              <a:ext uri="{FF2B5EF4-FFF2-40B4-BE49-F238E27FC236}">
                <a16:creationId xmlns:a16="http://schemas.microsoft.com/office/drawing/2014/main" id="{961970A5-872D-4075-97B3-48DFAAE297A7}"/>
              </a:ext>
            </a:extLst>
          </p:cNvPr>
          <p:cNvSpPr txBox="1"/>
          <p:nvPr/>
        </p:nvSpPr>
        <p:spPr>
          <a:xfrm>
            <a:off x="240587" y="6944038"/>
            <a:ext cx="11710826" cy="2585323"/>
          </a:xfrm>
          <a:prstGeom prst="rect">
            <a:avLst/>
          </a:prstGeom>
          <a:noFill/>
        </p:spPr>
        <p:txBody>
          <a:bodyPr wrap="square">
            <a:spAutoFit/>
          </a:bodyPr>
          <a:lstStyle/>
          <a:p>
            <a:r>
              <a:rPr lang="en-US" altLang="ja-JP" dirty="0"/>
              <a:t>A</a:t>
            </a:r>
            <a:r>
              <a:rPr lang="ja-JP" altLang="en-US" dirty="0"/>
              <a:t>：避难（人数）规模避難 避難所 避難所開設 避難指示 避難勧告 避難者 避難者数 収容人数 受け入れ 人数 何人 ○人 ○名 ○世帯 満員 満杯 混雑 入れない いっぱい 溢れてる 体育館に避難 学校に避難 公民館に避難</a:t>
            </a:r>
            <a:endParaRPr lang="en-US" altLang="ja-JP" dirty="0"/>
          </a:p>
          <a:p>
            <a:endParaRPr lang="en-US" altLang="ja-JP" dirty="0"/>
          </a:p>
          <a:p>
            <a:r>
              <a:rPr lang="en-US" altLang="ja-JP" dirty="0"/>
              <a:t>B</a:t>
            </a:r>
            <a:r>
              <a:rPr lang="ja-JP" altLang="en-US" dirty="0"/>
              <a:t>：建筑损伤状况  建物被害 家屋被害 住宅被害 建物損壊 建物損傷 倒壊 全壊 半壊 一部損壊 崩壊 崩れた 亀裂 ひび ひび割れ 傾いた 歪み 天井落下 瓦落下 ガラス破損 窓が割れた 液状化 地盤沈下</a:t>
            </a:r>
            <a:endParaRPr lang="en-US" altLang="ja-JP" dirty="0"/>
          </a:p>
          <a:p>
            <a:endParaRPr lang="en-US" altLang="ja-JP" dirty="0"/>
          </a:p>
          <a:p>
            <a:r>
              <a:rPr lang="en-US" altLang="ja-JP" dirty="0"/>
              <a:t>C</a:t>
            </a:r>
            <a:r>
              <a:rPr lang="ja-JP" altLang="en-US" dirty="0"/>
              <a:t>：医疗需求（受伤与急救）怪我 けが 負傷 負傷者 重傷 軽傷 出血 骨折 打撲 火傷 意識不明 救急 救急車 救急要請 救護 救護所 応急手当 応急処置 止血 包帯 病院 診療所 救急外来 受け入れ不可 受診できない 医療支援 医師不足 看護師 薬不足 透析 インスリン 持病</a:t>
            </a:r>
            <a:endParaRPr lang="zh-CN" altLang="en-US" dirty="0"/>
          </a:p>
        </p:txBody>
      </p:sp>
      <p:sp>
        <p:nvSpPr>
          <p:cNvPr id="34" name="矩形: 圆角 33">
            <a:extLst>
              <a:ext uri="{FF2B5EF4-FFF2-40B4-BE49-F238E27FC236}">
                <a16:creationId xmlns:a16="http://schemas.microsoft.com/office/drawing/2014/main" id="{3A606B44-721E-4609-945A-B39E4D8C5494}"/>
              </a:ext>
            </a:extLst>
          </p:cNvPr>
          <p:cNvSpPr/>
          <p:nvPr/>
        </p:nvSpPr>
        <p:spPr>
          <a:xfrm>
            <a:off x="7024635" y="2786684"/>
            <a:ext cx="1906978" cy="25225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dirty="0"/>
              <a:t>1</a:t>
            </a:r>
            <a:r>
              <a:rPr lang="ja-JP" altLang="en-US" dirty="0"/>
              <a:t>．避難規模</a:t>
            </a:r>
            <a:br>
              <a:rPr lang="ja-JP" altLang="en-US" dirty="0"/>
            </a:br>
            <a:r>
              <a:rPr lang="en-US" altLang="ja-JP" dirty="0"/>
              <a:t>2</a:t>
            </a:r>
            <a:r>
              <a:rPr lang="ja-JP" altLang="en-US" dirty="0"/>
              <a:t>．建物の損傷状況</a:t>
            </a:r>
            <a:br>
              <a:rPr lang="ja-JP" altLang="en-US" dirty="0"/>
            </a:br>
            <a:r>
              <a:rPr lang="en-US" altLang="ja-JP" dirty="0"/>
              <a:t>3</a:t>
            </a:r>
            <a:r>
              <a:rPr lang="ja-JP" altLang="en-US" dirty="0"/>
              <a:t>．医療ニーズ</a:t>
            </a:r>
          </a:p>
        </p:txBody>
      </p:sp>
      <p:grpSp>
        <p:nvGrpSpPr>
          <p:cNvPr id="5" name="组合 4">
            <a:extLst>
              <a:ext uri="{FF2B5EF4-FFF2-40B4-BE49-F238E27FC236}">
                <a16:creationId xmlns:a16="http://schemas.microsoft.com/office/drawing/2014/main" id="{8F6CAF5D-705A-4B40-8EAE-4546D85433AF}"/>
              </a:ext>
            </a:extLst>
          </p:cNvPr>
          <p:cNvGrpSpPr/>
          <p:nvPr/>
        </p:nvGrpSpPr>
        <p:grpSpPr>
          <a:xfrm>
            <a:off x="5139226" y="3350124"/>
            <a:ext cx="1129490" cy="1555749"/>
            <a:chOff x="5109154" y="3130466"/>
            <a:chExt cx="1129490" cy="1555749"/>
          </a:xfrm>
        </p:grpSpPr>
        <p:pic>
          <p:nvPicPr>
            <p:cNvPr id="1028" name="Picture 4" descr="Infinity Fire Logo | Scalebranding">
              <a:extLst>
                <a:ext uri="{FF2B5EF4-FFF2-40B4-BE49-F238E27FC236}">
                  <a16:creationId xmlns:a16="http://schemas.microsoft.com/office/drawing/2014/main" id="{0B27C4F4-CC05-C77A-41D7-0B92EB09DB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9154" y="3136975"/>
              <a:ext cx="462956" cy="462956"/>
            </a:xfrm>
            <a:prstGeom prst="rect">
              <a:avLst/>
            </a:prstGeom>
            <a:noFill/>
            <a:extLst>
              <a:ext uri="{909E8E84-426E-40DD-AFC4-6F175D3DCCD1}">
                <a14:hiddenFill xmlns:a14="http://schemas.microsoft.com/office/drawing/2010/main">
                  <a:solidFill>
                    <a:srgbClr val="FFFFFF"/>
                  </a:solidFill>
                </a14:hiddenFill>
              </a:ext>
            </a:extLst>
          </p:spPr>
        </p:pic>
        <p:sp>
          <p:nvSpPr>
            <p:cNvPr id="42" name="矩形: 圆角 41">
              <a:extLst>
                <a:ext uri="{FF2B5EF4-FFF2-40B4-BE49-F238E27FC236}">
                  <a16:creationId xmlns:a16="http://schemas.microsoft.com/office/drawing/2014/main" id="{4C27D410-F4E3-411E-91CB-EB03E6ADE2A3}"/>
                </a:ext>
              </a:extLst>
            </p:cNvPr>
            <p:cNvSpPr/>
            <p:nvPr/>
          </p:nvSpPr>
          <p:spPr>
            <a:xfrm>
              <a:off x="5116074" y="3130466"/>
              <a:ext cx="1122570" cy="1555749"/>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LoRA</a:t>
              </a:r>
              <a:endParaRPr lang="zh-CN" altLang="en-US" dirty="0">
                <a:solidFill>
                  <a:schemeClr val="tx1"/>
                </a:solidFill>
              </a:endParaRPr>
            </a:p>
          </p:txBody>
        </p:sp>
      </p:grpSp>
      <p:sp>
        <p:nvSpPr>
          <p:cNvPr id="3" name="Arrow: Right 2">
            <a:extLst>
              <a:ext uri="{FF2B5EF4-FFF2-40B4-BE49-F238E27FC236}">
                <a16:creationId xmlns:a16="http://schemas.microsoft.com/office/drawing/2014/main" id="{64AA853A-3D9E-0080-DECE-796C0ED56EE3}"/>
              </a:ext>
            </a:extLst>
          </p:cNvPr>
          <p:cNvSpPr/>
          <p:nvPr/>
        </p:nvSpPr>
        <p:spPr>
          <a:xfrm>
            <a:off x="1836857" y="3910131"/>
            <a:ext cx="393290" cy="3539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矩形: 圆角 32">
            <a:extLst>
              <a:ext uri="{FF2B5EF4-FFF2-40B4-BE49-F238E27FC236}">
                <a16:creationId xmlns:a16="http://schemas.microsoft.com/office/drawing/2014/main" id="{AB8B73E8-C7BC-15BF-EC49-402C851885A3}"/>
              </a:ext>
            </a:extLst>
          </p:cNvPr>
          <p:cNvSpPr/>
          <p:nvPr/>
        </p:nvSpPr>
        <p:spPr>
          <a:xfrm>
            <a:off x="551398" y="3326883"/>
            <a:ext cx="1233394" cy="15557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*Tweets </a:t>
            </a:r>
            <a:r>
              <a:rPr lang="zh-CN" altLang="en-US" dirty="0"/>
              <a:t> </a:t>
            </a:r>
            <a:r>
              <a:rPr lang="en-US" altLang="zh-CN" dirty="0"/>
              <a:t>from</a:t>
            </a:r>
            <a:r>
              <a:rPr lang="zh-CN" altLang="en-US" dirty="0"/>
              <a:t> </a:t>
            </a:r>
            <a:r>
              <a:rPr lang="en-US" altLang="zh-CN" dirty="0"/>
              <a:t>Twitter(X)</a:t>
            </a:r>
          </a:p>
        </p:txBody>
      </p:sp>
      <p:sp>
        <p:nvSpPr>
          <p:cNvPr id="11" name="Arrow: Right 7">
            <a:extLst>
              <a:ext uri="{FF2B5EF4-FFF2-40B4-BE49-F238E27FC236}">
                <a16:creationId xmlns:a16="http://schemas.microsoft.com/office/drawing/2014/main" id="{9760A0F5-673F-2BD0-0B43-A9566EC82F83}"/>
              </a:ext>
            </a:extLst>
          </p:cNvPr>
          <p:cNvSpPr/>
          <p:nvPr/>
        </p:nvSpPr>
        <p:spPr>
          <a:xfrm>
            <a:off x="3504811" y="3927776"/>
            <a:ext cx="600813" cy="3539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组合 7">
            <a:extLst>
              <a:ext uri="{FF2B5EF4-FFF2-40B4-BE49-F238E27FC236}">
                <a16:creationId xmlns:a16="http://schemas.microsoft.com/office/drawing/2014/main" id="{23D1C9BC-D354-4982-8AB2-7B6D4BACCC37}"/>
              </a:ext>
            </a:extLst>
          </p:cNvPr>
          <p:cNvGrpSpPr/>
          <p:nvPr/>
        </p:nvGrpSpPr>
        <p:grpSpPr>
          <a:xfrm>
            <a:off x="2254656" y="3350124"/>
            <a:ext cx="1198090" cy="1555749"/>
            <a:chOff x="2216825" y="3130466"/>
            <a:chExt cx="1198090" cy="1555749"/>
          </a:xfrm>
        </p:grpSpPr>
        <p:pic>
          <p:nvPicPr>
            <p:cNvPr id="1026" name="Picture 2" descr="Freeze Logo Images – Browse 84,662 Stock Photos, Vectors ...">
              <a:extLst>
                <a:ext uri="{FF2B5EF4-FFF2-40B4-BE49-F238E27FC236}">
                  <a16:creationId xmlns:a16="http://schemas.microsoft.com/office/drawing/2014/main" id="{BB8A0862-0190-590F-C825-B5321D68AC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825" y="3136975"/>
              <a:ext cx="448984" cy="44898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圆角 25">
              <a:extLst>
                <a:ext uri="{FF2B5EF4-FFF2-40B4-BE49-F238E27FC236}">
                  <a16:creationId xmlns:a16="http://schemas.microsoft.com/office/drawing/2014/main" id="{E2CF550E-CFDE-DA36-6D34-F9C88ECC8C95}"/>
                </a:ext>
              </a:extLst>
            </p:cNvPr>
            <p:cNvSpPr/>
            <p:nvPr/>
          </p:nvSpPr>
          <p:spPr>
            <a:xfrm>
              <a:off x="2231763" y="3130466"/>
              <a:ext cx="1183152" cy="1555749"/>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BERT</a:t>
              </a:r>
            </a:p>
          </p:txBody>
        </p:sp>
      </p:grpSp>
      <p:sp>
        <p:nvSpPr>
          <p:cNvPr id="18" name="Rectangle 17">
            <a:extLst>
              <a:ext uri="{FF2B5EF4-FFF2-40B4-BE49-F238E27FC236}">
                <a16:creationId xmlns:a16="http://schemas.microsoft.com/office/drawing/2014/main" id="{36C837A3-9BFC-36A0-5838-5E383D699387}"/>
              </a:ext>
            </a:extLst>
          </p:cNvPr>
          <p:cNvSpPr/>
          <p:nvPr/>
        </p:nvSpPr>
        <p:spPr>
          <a:xfrm>
            <a:off x="4140087" y="3501523"/>
            <a:ext cx="335579" cy="1148887"/>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42E01A5-EE55-1AFE-A63D-00914E957B99}"/>
              </a:ext>
            </a:extLst>
          </p:cNvPr>
          <p:cNvSpPr txBox="1"/>
          <p:nvPr/>
        </p:nvSpPr>
        <p:spPr>
          <a:xfrm>
            <a:off x="3736578" y="4650410"/>
            <a:ext cx="1122570" cy="646331"/>
          </a:xfrm>
          <a:prstGeom prst="rect">
            <a:avLst/>
          </a:prstGeom>
          <a:noFill/>
        </p:spPr>
        <p:txBody>
          <a:bodyPr wrap="square" rtlCol="0">
            <a:spAutoFit/>
          </a:bodyPr>
          <a:lstStyle/>
          <a:p>
            <a:pPr algn="ctr"/>
            <a:r>
              <a:rPr lang="en-US" altLang="zh-CN" dirty="0"/>
              <a:t>Text feature</a:t>
            </a:r>
            <a:endParaRPr lang="en-US" dirty="0"/>
          </a:p>
        </p:txBody>
      </p:sp>
      <p:sp>
        <p:nvSpPr>
          <p:cNvPr id="21" name="Arrow: Right 7">
            <a:extLst>
              <a:ext uri="{FF2B5EF4-FFF2-40B4-BE49-F238E27FC236}">
                <a16:creationId xmlns:a16="http://schemas.microsoft.com/office/drawing/2014/main" id="{C05DBF6C-D875-6E94-C477-6679E47EC990}"/>
              </a:ext>
            </a:extLst>
          </p:cNvPr>
          <p:cNvSpPr/>
          <p:nvPr/>
        </p:nvSpPr>
        <p:spPr>
          <a:xfrm>
            <a:off x="4509119" y="3935812"/>
            <a:ext cx="600813" cy="3539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7">
            <a:extLst>
              <a:ext uri="{FF2B5EF4-FFF2-40B4-BE49-F238E27FC236}">
                <a16:creationId xmlns:a16="http://schemas.microsoft.com/office/drawing/2014/main" id="{222E7511-2CE8-8229-D898-7FDC80B111DB}"/>
              </a:ext>
            </a:extLst>
          </p:cNvPr>
          <p:cNvSpPr/>
          <p:nvPr/>
        </p:nvSpPr>
        <p:spPr>
          <a:xfrm>
            <a:off x="6372846" y="3951017"/>
            <a:ext cx="600813" cy="3539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103CD4A-B4CE-15DF-A859-094AFA7ACDE1}"/>
              </a:ext>
            </a:extLst>
          </p:cNvPr>
          <p:cNvSpPr txBox="1"/>
          <p:nvPr/>
        </p:nvSpPr>
        <p:spPr>
          <a:xfrm>
            <a:off x="7684579" y="6588351"/>
            <a:ext cx="7338442" cy="261610"/>
          </a:xfrm>
          <a:prstGeom prst="rect">
            <a:avLst/>
          </a:prstGeom>
          <a:noFill/>
        </p:spPr>
        <p:txBody>
          <a:bodyPr wrap="square">
            <a:spAutoFit/>
          </a:bodyPr>
          <a:lstStyle/>
          <a:p>
            <a:r>
              <a:rPr lang="en-US" altLang="zh-CN" sz="1100" dirty="0">
                <a:solidFill>
                  <a:schemeClr val="bg1">
                    <a:lumMod val="75000"/>
                  </a:schemeClr>
                </a:solidFill>
              </a:rPr>
              <a:t>*</a:t>
            </a:r>
            <a:r>
              <a:rPr lang="zh-CN" altLang="en-US" sz="1100" dirty="0">
                <a:solidFill>
                  <a:schemeClr val="bg1">
                    <a:lumMod val="75000"/>
                  </a:schemeClr>
                </a:solidFill>
              </a:rPr>
              <a:t>：</a:t>
            </a:r>
            <a:r>
              <a:rPr lang="en-US" altLang="zh-CN" sz="1100" dirty="0">
                <a:solidFill>
                  <a:schemeClr val="bg1">
                    <a:lumMod val="75000"/>
                  </a:schemeClr>
                </a:solidFill>
              </a:rPr>
              <a:t>2024</a:t>
            </a:r>
            <a:r>
              <a:rPr lang="ja-JP" altLang="en-US" sz="1100" dirty="0">
                <a:solidFill>
                  <a:schemeClr val="bg1">
                    <a:lumMod val="75000"/>
                  </a:schemeClr>
                </a:solidFill>
              </a:rPr>
              <a:t>能登半島地震　（</a:t>
            </a:r>
            <a:r>
              <a:rPr lang="pl-PL" altLang="zh-CN" sz="1100" b="1" dirty="0">
                <a:solidFill>
                  <a:schemeClr val="bg1">
                    <a:lumMod val="75000"/>
                  </a:schemeClr>
                </a:solidFill>
              </a:rPr>
              <a:t>2024-01-01 16:10:09 JST</a:t>
            </a:r>
            <a:r>
              <a:rPr lang="zh-CN" altLang="pl-PL" sz="1100" dirty="0">
                <a:solidFill>
                  <a:schemeClr val="bg1">
                    <a:lumMod val="75000"/>
                  </a:schemeClr>
                </a:solidFill>
              </a:rPr>
              <a:t>，</a:t>
            </a:r>
            <a:r>
              <a:rPr lang="pl-PL" altLang="zh-CN" sz="1100" dirty="0">
                <a:solidFill>
                  <a:schemeClr val="bg1">
                    <a:lumMod val="75000"/>
                  </a:schemeClr>
                </a:solidFill>
              </a:rPr>
              <a:t>Mj 7.6</a:t>
            </a:r>
            <a:r>
              <a:rPr lang="ja-JP" altLang="en-US" sz="1100" dirty="0">
                <a:solidFill>
                  <a:schemeClr val="bg1">
                    <a:lumMod val="75000"/>
                  </a:schemeClr>
                </a:solidFill>
              </a:rPr>
              <a:t>）の例として</a:t>
            </a:r>
            <a:endParaRPr lang="en-US" altLang="ja-JP" sz="1100" dirty="0">
              <a:solidFill>
                <a:schemeClr val="bg1">
                  <a:lumMod val="75000"/>
                </a:schemeClr>
              </a:solidFill>
            </a:endParaRPr>
          </a:p>
        </p:txBody>
      </p:sp>
      <p:sp>
        <p:nvSpPr>
          <p:cNvPr id="27" name="TextBox 26">
            <a:extLst>
              <a:ext uri="{FF2B5EF4-FFF2-40B4-BE49-F238E27FC236}">
                <a16:creationId xmlns:a16="http://schemas.microsoft.com/office/drawing/2014/main" id="{BF167A9A-6BB8-28CC-3A94-2AEF6B5A5F93}"/>
              </a:ext>
            </a:extLst>
          </p:cNvPr>
          <p:cNvSpPr txBox="1"/>
          <p:nvPr/>
        </p:nvSpPr>
        <p:spPr>
          <a:xfrm>
            <a:off x="11157244" y="3943100"/>
            <a:ext cx="1770613" cy="369332"/>
          </a:xfrm>
          <a:prstGeom prst="rect">
            <a:avLst/>
          </a:prstGeom>
          <a:noFill/>
        </p:spPr>
        <p:txBody>
          <a:bodyPr wrap="square" rtlCol="0">
            <a:spAutoFit/>
          </a:bodyPr>
          <a:lstStyle/>
          <a:p>
            <a:r>
              <a:rPr lang="ja-JP" altLang="en-US"/>
              <a:t>真値</a:t>
            </a:r>
            <a:endParaRPr lang="en-US" dirty="0"/>
          </a:p>
        </p:txBody>
      </p:sp>
      <p:sp>
        <p:nvSpPr>
          <p:cNvPr id="30" name="Arrow: Left-Right 29">
            <a:extLst>
              <a:ext uri="{FF2B5EF4-FFF2-40B4-BE49-F238E27FC236}">
                <a16:creationId xmlns:a16="http://schemas.microsoft.com/office/drawing/2014/main" id="{B7F8E62D-49F0-9F87-7D4A-64F7C032B7CC}"/>
              </a:ext>
            </a:extLst>
          </p:cNvPr>
          <p:cNvSpPr/>
          <p:nvPr/>
        </p:nvSpPr>
        <p:spPr>
          <a:xfrm>
            <a:off x="9042733" y="3932392"/>
            <a:ext cx="1966426" cy="390748"/>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B8129F6B-0FB8-6206-5E3A-E5FA778F7E44}"/>
                  </a:ext>
                </a:extLst>
              </p:cNvPr>
              <p:cNvSpPr txBox="1"/>
              <p:nvPr/>
            </p:nvSpPr>
            <p:spPr>
              <a:xfrm>
                <a:off x="9357388" y="3919552"/>
                <a:ext cx="1337116" cy="390748"/>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b="0" i="1" smtClean="0">
                              <a:latin typeface="Cambria Math" panose="02040503050406030204" pitchFamily="18" charset="0"/>
                            </a:rPr>
                          </m:ctrlPr>
                        </m:sSubPr>
                        <m:e>
                          <m:r>
                            <m:rPr>
                              <m:sty m:val="p"/>
                            </m:rPr>
                            <a:rPr lang="en-US" altLang="ja-JP" i="1" smtClean="0">
                              <a:latin typeface="Cambria Math" panose="02040503050406030204" pitchFamily="18" charset="0"/>
                            </a:rPr>
                            <m:t>L</m:t>
                          </m:r>
                        </m:e>
                        <m:sub>
                          <m:r>
                            <a:rPr lang="en-US" altLang="ja-JP" b="0" i="1" smtClean="0">
                              <a:latin typeface="Cambria Math" panose="02040503050406030204" pitchFamily="18" charset="0"/>
                            </a:rPr>
                            <m:t>𝑐𝑟𝑜𝑠𝑠</m:t>
                          </m:r>
                          <m:r>
                            <a:rPr lang="en-US" altLang="ja-JP" b="0" i="1" smtClean="0">
                              <a:latin typeface="Cambria Math" panose="02040503050406030204" pitchFamily="18" charset="0"/>
                            </a:rPr>
                            <m:t> </m:t>
                          </m:r>
                          <m:r>
                            <a:rPr lang="en-US" altLang="ja-JP" b="0" i="1" smtClean="0">
                              <a:latin typeface="Cambria Math" panose="02040503050406030204" pitchFamily="18" charset="0"/>
                            </a:rPr>
                            <m:t>𝑒𝑛𝑡𝑟𝑜𝑝𝑦</m:t>
                          </m:r>
                        </m:sub>
                      </m:sSub>
                    </m:oMath>
                  </m:oMathPara>
                </a14:m>
                <a:endParaRPr lang="en-US" dirty="0"/>
              </a:p>
            </p:txBody>
          </p:sp>
        </mc:Choice>
        <mc:Fallback>
          <p:sp>
            <p:nvSpPr>
              <p:cNvPr id="28" name="TextBox 27">
                <a:extLst>
                  <a:ext uri="{FF2B5EF4-FFF2-40B4-BE49-F238E27FC236}">
                    <a16:creationId xmlns:a16="http://schemas.microsoft.com/office/drawing/2014/main" id="{B8129F6B-0FB8-6206-5E3A-E5FA778F7E44}"/>
                  </a:ext>
                </a:extLst>
              </p:cNvPr>
              <p:cNvSpPr txBox="1">
                <a:spLocks noRot="1" noChangeAspect="1" noMove="1" noResize="1" noEditPoints="1" noAdjustHandles="1" noChangeArrowheads="1" noChangeShapeType="1" noTextEdit="1"/>
              </p:cNvSpPr>
              <p:nvPr/>
            </p:nvSpPr>
            <p:spPr>
              <a:xfrm>
                <a:off x="9357388" y="3919552"/>
                <a:ext cx="1337116" cy="390748"/>
              </a:xfrm>
              <a:prstGeom prst="rect">
                <a:avLst/>
              </a:prstGeom>
              <a:blipFill>
                <a:blip r:embed="rId5"/>
                <a:stretch>
                  <a:fillRect r="-7547" b="-9375"/>
                </a:stretch>
              </a:blipFill>
            </p:spPr>
            <p:txBody>
              <a:bodyPr/>
              <a:lstStyle/>
              <a:p>
                <a:r>
                  <a:rPr lang="en-JP">
                    <a:noFill/>
                  </a:rPr>
                  <a:t> </a:t>
                </a:r>
              </a:p>
            </p:txBody>
          </p:sp>
        </mc:Fallback>
      </mc:AlternateContent>
      <p:grpSp>
        <p:nvGrpSpPr>
          <p:cNvPr id="9" name="组合 8">
            <a:extLst>
              <a:ext uri="{FF2B5EF4-FFF2-40B4-BE49-F238E27FC236}">
                <a16:creationId xmlns:a16="http://schemas.microsoft.com/office/drawing/2014/main" id="{49DBDFB4-E82A-42F3-BD02-0EAA686FA663}"/>
              </a:ext>
            </a:extLst>
          </p:cNvPr>
          <p:cNvGrpSpPr/>
          <p:nvPr/>
        </p:nvGrpSpPr>
        <p:grpSpPr>
          <a:xfrm>
            <a:off x="0" y="5911389"/>
            <a:ext cx="2637310" cy="855022"/>
            <a:chOff x="296834" y="5718563"/>
            <a:chExt cx="2637310" cy="855022"/>
          </a:xfrm>
        </p:grpSpPr>
        <p:pic>
          <p:nvPicPr>
            <p:cNvPr id="32" name="Picture 2" descr="Freeze Logo Images – Browse 84,662 Stock Photos, Vectors ...">
              <a:extLst>
                <a:ext uri="{FF2B5EF4-FFF2-40B4-BE49-F238E27FC236}">
                  <a16:creationId xmlns:a16="http://schemas.microsoft.com/office/drawing/2014/main" id="{1B0A59D3-544D-E0EF-1432-947F6D19E2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834" y="5718563"/>
              <a:ext cx="448984" cy="44898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Infinity Fire Logo | Scalebranding">
              <a:extLst>
                <a:ext uri="{FF2B5EF4-FFF2-40B4-BE49-F238E27FC236}">
                  <a16:creationId xmlns:a16="http://schemas.microsoft.com/office/drawing/2014/main" id="{D3C55269-E67C-1B95-7B10-1ED1E7FB8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34" y="6124601"/>
              <a:ext cx="448984" cy="448984"/>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99507A6F-C0B1-A716-5006-FCEB497F3633}"/>
                </a:ext>
              </a:extLst>
            </p:cNvPr>
            <p:cNvSpPr txBox="1"/>
            <p:nvPr/>
          </p:nvSpPr>
          <p:spPr>
            <a:xfrm>
              <a:off x="838199" y="5804452"/>
              <a:ext cx="2095945" cy="276999"/>
            </a:xfrm>
            <a:prstGeom prst="rect">
              <a:avLst/>
            </a:prstGeom>
            <a:noFill/>
          </p:spPr>
          <p:txBody>
            <a:bodyPr wrap="square" rtlCol="0">
              <a:spAutoFit/>
            </a:bodyPr>
            <a:lstStyle/>
            <a:p>
              <a:r>
                <a:rPr lang="ja-JP" altLang="en-US" sz="1200" dirty="0"/>
                <a:t>パラメータ凍結</a:t>
              </a:r>
              <a:endParaRPr lang="en-US" sz="1200" dirty="0"/>
            </a:p>
          </p:txBody>
        </p:sp>
        <p:sp>
          <p:nvSpPr>
            <p:cNvPr id="40" name="TextBox 39">
              <a:extLst>
                <a:ext uri="{FF2B5EF4-FFF2-40B4-BE49-F238E27FC236}">
                  <a16:creationId xmlns:a16="http://schemas.microsoft.com/office/drawing/2014/main" id="{EB75A7B8-18DA-EA06-1E3F-B5F2E25882CE}"/>
                </a:ext>
              </a:extLst>
            </p:cNvPr>
            <p:cNvSpPr txBox="1"/>
            <p:nvPr/>
          </p:nvSpPr>
          <p:spPr>
            <a:xfrm>
              <a:off x="838199" y="6213782"/>
              <a:ext cx="2095945" cy="276999"/>
            </a:xfrm>
            <a:prstGeom prst="rect">
              <a:avLst/>
            </a:prstGeom>
            <a:noFill/>
          </p:spPr>
          <p:txBody>
            <a:bodyPr wrap="square" rtlCol="0">
              <a:spAutoFit/>
            </a:bodyPr>
            <a:lstStyle/>
            <a:p>
              <a:r>
                <a:rPr lang="ja-JP" altLang="en-US" sz="1200" dirty="0"/>
                <a:t>パラメータ更新</a:t>
              </a:r>
              <a:endParaRPr lang="en-US" sz="1200" dirty="0"/>
            </a:p>
          </p:txBody>
        </p:sp>
      </p:grpSp>
      <p:sp>
        <p:nvSpPr>
          <p:cNvPr id="13" name="TextBox 12">
            <a:extLst>
              <a:ext uri="{FF2B5EF4-FFF2-40B4-BE49-F238E27FC236}">
                <a16:creationId xmlns:a16="http://schemas.microsoft.com/office/drawing/2014/main" id="{65DB2213-81D5-0212-1F1D-52CF69042C35}"/>
              </a:ext>
            </a:extLst>
          </p:cNvPr>
          <p:cNvSpPr txBox="1"/>
          <p:nvPr/>
        </p:nvSpPr>
        <p:spPr>
          <a:xfrm>
            <a:off x="7331594" y="3158107"/>
            <a:ext cx="1353203" cy="369332"/>
          </a:xfrm>
          <a:prstGeom prst="rect">
            <a:avLst/>
          </a:prstGeom>
          <a:noFill/>
        </p:spPr>
        <p:txBody>
          <a:bodyPr wrap="square" rtlCol="0">
            <a:spAutoFit/>
          </a:bodyPr>
          <a:lstStyle/>
          <a:p>
            <a:r>
              <a:rPr lang="en-JP" dirty="0">
                <a:solidFill>
                  <a:schemeClr val="bg1">
                    <a:lumMod val="75000"/>
                  </a:schemeClr>
                </a:solidFill>
              </a:rPr>
              <a:t>予測ラベル</a:t>
            </a:r>
          </a:p>
        </p:txBody>
      </p:sp>
    </p:spTree>
    <p:extLst>
      <p:ext uri="{BB962C8B-B14F-4D97-AF65-F5344CB8AC3E}">
        <p14:creationId xmlns:p14="http://schemas.microsoft.com/office/powerpoint/2010/main" val="550567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ChatGPT Logo - Chat gpt Icon on White Background 21059827 Vector Art at  Vecteezy">
            <a:extLst>
              <a:ext uri="{FF2B5EF4-FFF2-40B4-BE49-F238E27FC236}">
                <a16:creationId xmlns:a16="http://schemas.microsoft.com/office/drawing/2014/main" id="{2441912E-4C6B-F530-7F9D-C121778D1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8874" y="2257240"/>
            <a:ext cx="2520792" cy="2520792"/>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EA97A57E-BA4A-4FE0-9B86-071F65FB2446}"/>
              </a:ext>
            </a:extLst>
          </p:cNvPr>
          <p:cNvSpPr>
            <a:spLocks noGrp="1"/>
          </p:cNvSpPr>
          <p:nvPr>
            <p:ph type="title"/>
          </p:nvPr>
        </p:nvSpPr>
        <p:spPr/>
        <p:txBody>
          <a:bodyPr/>
          <a:lstStyle/>
          <a:p>
            <a:r>
              <a:rPr lang="en-US" altLang="zh-CN" dirty="0"/>
              <a:t>Application</a:t>
            </a:r>
            <a:endParaRPr lang="zh-CN" altLang="en-US" dirty="0"/>
          </a:p>
        </p:txBody>
      </p:sp>
      <p:sp>
        <p:nvSpPr>
          <p:cNvPr id="4" name="灯片编号占位符 3">
            <a:extLst>
              <a:ext uri="{FF2B5EF4-FFF2-40B4-BE49-F238E27FC236}">
                <a16:creationId xmlns:a16="http://schemas.microsoft.com/office/drawing/2014/main" id="{8F4C7B90-3683-4FE6-9C5A-D46040D1F65F}"/>
              </a:ext>
            </a:extLst>
          </p:cNvPr>
          <p:cNvSpPr>
            <a:spLocks noGrp="1"/>
          </p:cNvSpPr>
          <p:nvPr>
            <p:ph type="sldNum" sz="quarter" idx="12"/>
          </p:nvPr>
        </p:nvSpPr>
        <p:spPr/>
        <p:txBody>
          <a:bodyPr/>
          <a:lstStyle/>
          <a:p>
            <a:fld id="{6732DEBC-3A3D-4A20-A97E-1DC1DBFA9CD8}" type="slidenum">
              <a:rPr kumimoji="1" lang="ja-JP" altLang="en-US" smtClean="0"/>
              <a:pPr/>
              <a:t>8</a:t>
            </a:fld>
            <a:endParaRPr kumimoji="1" lang="ja-JP" altLang="en-US" dirty="0"/>
          </a:p>
        </p:txBody>
      </p:sp>
      <p:sp>
        <p:nvSpPr>
          <p:cNvPr id="6" name="椭圆 5">
            <a:extLst>
              <a:ext uri="{FF2B5EF4-FFF2-40B4-BE49-F238E27FC236}">
                <a16:creationId xmlns:a16="http://schemas.microsoft.com/office/drawing/2014/main" id="{488B9478-360C-4D3D-9C06-1FC5368A4787}"/>
              </a:ext>
            </a:extLst>
          </p:cNvPr>
          <p:cNvSpPr/>
          <p:nvPr/>
        </p:nvSpPr>
        <p:spPr>
          <a:xfrm>
            <a:off x="457198" y="2923044"/>
            <a:ext cx="1730478" cy="1111303"/>
          </a:xfrm>
          <a:prstGeom prst="ellipse">
            <a:avLst/>
          </a:prstGeom>
          <a:solidFill>
            <a:schemeClr val="accent2">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Disaster occurrence</a:t>
            </a:r>
            <a:endParaRPr lang="zh-CN" altLang="en-US" dirty="0"/>
          </a:p>
        </p:txBody>
      </p:sp>
      <p:sp>
        <p:nvSpPr>
          <p:cNvPr id="7" name="箭头: 右 6">
            <a:extLst>
              <a:ext uri="{FF2B5EF4-FFF2-40B4-BE49-F238E27FC236}">
                <a16:creationId xmlns:a16="http://schemas.microsoft.com/office/drawing/2014/main" id="{B6E876FE-9951-4823-9734-853C8E67506B}"/>
              </a:ext>
            </a:extLst>
          </p:cNvPr>
          <p:cNvSpPr/>
          <p:nvPr/>
        </p:nvSpPr>
        <p:spPr>
          <a:xfrm>
            <a:off x="2348053" y="3223057"/>
            <a:ext cx="619432" cy="5063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7113F3EF-9DC9-4E87-A2D2-21A09E60A27F}"/>
              </a:ext>
            </a:extLst>
          </p:cNvPr>
          <p:cNvSpPr/>
          <p:nvPr/>
        </p:nvSpPr>
        <p:spPr>
          <a:xfrm>
            <a:off x="3014814" y="2554106"/>
            <a:ext cx="1231492" cy="18491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dirty="0"/>
              <a:t>Fetch tweets at regular </a:t>
            </a:r>
            <a:r>
              <a:rPr lang="en-US" altLang="zh-CN" dirty="0"/>
              <a:t>time</a:t>
            </a:r>
            <a:endParaRPr lang="zh-CN" altLang="en-US" dirty="0"/>
          </a:p>
        </p:txBody>
      </p:sp>
      <p:sp>
        <p:nvSpPr>
          <p:cNvPr id="9" name="箭头: 右 8">
            <a:extLst>
              <a:ext uri="{FF2B5EF4-FFF2-40B4-BE49-F238E27FC236}">
                <a16:creationId xmlns:a16="http://schemas.microsoft.com/office/drawing/2014/main" id="{11F3203A-C870-4555-A0F5-548D13F0FC62}"/>
              </a:ext>
            </a:extLst>
          </p:cNvPr>
          <p:cNvSpPr/>
          <p:nvPr/>
        </p:nvSpPr>
        <p:spPr>
          <a:xfrm>
            <a:off x="4332338" y="3224485"/>
            <a:ext cx="576416" cy="504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52BE46CC-A241-4B10-AA79-0B8E2B0659DF}"/>
              </a:ext>
            </a:extLst>
          </p:cNvPr>
          <p:cNvSpPr/>
          <p:nvPr/>
        </p:nvSpPr>
        <p:spPr>
          <a:xfrm>
            <a:off x="8342058" y="2554106"/>
            <a:ext cx="1231492" cy="18491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Generate summary report</a:t>
            </a:r>
            <a:endParaRPr lang="zh-CN" altLang="en-US" dirty="0"/>
          </a:p>
        </p:txBody>
      </p:sp>
      <p:sp>
        <p:nvSpPr>
          <p:cNvPr id="5" name="箭头: 右 8">
            <a:extLst>
              <a:ext uri="{FF2B5EF4-FFF2-40B4-BE49-F238E27FC236}">
                <a16:creationId xmlns:a16="http://schemas.microsoft.com/office/drawing/2014/main" id="{0BD22582-C077-402A-9D51-CD6AFDAFEF1C}"/>
              </a:ext>
            </a:extLst>
          </p:cNvPr>
          <p:cNvSpPr/>
          <p:nvPr/>
        </p:nvSpPr>
        <p:spPr>
          <a:xfrm>
            <a:off x="7653798" y="3223057"/>
            <a:ext cx="619432" cy="5063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右 8">
            <a:extLst>
              <a:ext uri="{FF2B5EF4-FFF2-40B4-BE49-F238E27FC236}">
                <a16:creationId xmlns:a16="http://schemas.microsoft.com/office/drawing/2014/main" id="{88C11491-6D7F-6F91-5DA2-986A0B7FE323}"/>
              </a:ext>
            </a:extLst>
          </p:cNvPr>
          <p:cNvSpPr/>
          <p:nvPr/>
        </p:nvSpPr>
        <p:spPr>
          <a:xfrm>
            <a:off x="9646674" y="3264455"/>
            <a:ext cx="619432" cy="5063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42E54A2A-983E-48F0-91FD-A9FB7D4BDBA8}"/>
              </a:ext>
            </a:extLst>
          </p:cNvPr>
          <p:cNvGrpSpPr/>
          <p:nvPr/>
        </p:nvGrpSpPr>
        <p:grpSpPr>
          <a:xfrm>
            <a:off x="8486558" y="5231059"/>
            <a:ext cx="1022864" cy="1246268"/>
            <a:chOff x="6552816" y="5006898"/>
            <a:chExt cx="914400" cy="1064012"/>
          </a:xfrm>
        </p:grpSpPr>
        <p:sp>
          <p:nvSpPr>
            <p:cNvPr id="14" name="TextBox 13">
              <a:extLst>
                <a:ext uri="{FF2B5EF4-FFF2-40B4-BE49-F238E27FC236}">
                  <a16:creationId xmlns:a16="http://schemas.microsoft.com/office/drawing/2014/main" id="{3008463C-0948-5838-E616-90B1BE628199}"/>
                </a:ext>
              </a:extLst>
            </p:cNvPr>
            <p:cNvSpPr txBox="1"/>
            <p:nvPr/>
          </p:nvSpPr>
          <p:spPr>
            <a:xfrm>
              <a:off x="6731101" y="5701578"/>
              <a:ext cx="698706" cy="369332"/>
            </a:xfrm>
            <a:prstGeom prst="rect">
              <a:avLst/>
            </a:prstGeom>
            <a:noFill/>
          </p:spPr>
          <p:txBody>
            <a:bodyPr wrap="square" rtlCol="0">
              <a:spAutoFit/>
            </a:bodyPr>
            <a:lstStyle/>
            <a:p>
              <a:r>
                <a:rPr lang="en-US" altLang="zh-CN" b="1" dirty="0"/>
                <a:t>User</a:t>
              </a:r>
              <a:endParaRPr lang="en-US" b="1" dirty="0"/>
            </a:p>
          </p:txBody>
        </p:sp>
        <p:pic>
          <p:nvPicPr>
            <p:cNvPr id="11" name="图形 10" descr="组 纯色填充">
              <a:extLst>
                <a:ext uri="{FF2B5EF4-FFF2-40B4-BE49-F238E27FC236}">
                  <a16:creationId xmlns:a16="http://schemas.microsoft.com/office/drawing/2014/main" id="{B880ACE7-D2D9-41A3-ABC9-037334872F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2816" y="5006898"/>
              <a:ext cx="914400" cy="914400"/>
            </a:xfrm>
            <a:prstGeom prst="rect">
              <a:avLst/>
            </a:prstGeom>
          </p:spPr>
        </p:pic>
      </p:grpSp>
      <p:grpSp>
        <p:nvGrpSpPr>
          <p:cNvPr id="21" name="组合 20">
            <a:extLst>
              <a:ext uri="{FF2B5EF4-FFF2-40B4-BE49-F238E27FC236}">
                <a16:creationId xmlns:a16="http://schemas.microsoft.com/office/drawing/2014/main" id="{D749D970-5E83-4336-8FC9-6AFEA194871B}"/>
              </a:ext>
            </a:extLst>
          </p:cNvPr>
          <p:cNvGrpSpPr/>
          <p:nvPr/>
        </p:nvGrpSpPr>
        <p:grpSpPr>
          <a:xfrm>
            <a:off x="10139146" y="2985025"/>
            <a:ext cx="1382664" cy="1072182"/>
            <a:chOff x="10352138" y="2591180"/>
            <a:chExt cx="1382664" cy="1072182"/>
          </a:xfrm>
        </p:grpSpPr>
        <p:sp>
          <p:nvSpPr>
            <p:cNvPr id="16" name="TextBox 15">
              <a:extLst>
                <a:ext uri="{FF2B5EF4-FFF2-40B4-BE49-F238E27FC236}">
                  <a16:creationId xmlns:a16="http://schemas.microsoft.com/office/drawing/2014/main" id="{21DCE879-318F-8EA5-2F8A-90E4E31BCDF3}"/>
                </a:ext>
              </a:extLst>
            </p:cNvPr>
            <p:cNvSpPr txBox="1"/>
            <p:nvPr/>
          </p:nvSpPr>
          <p:spPr>
            <a:xfrm>
              <a:off x="10352138" y="3294030"/>
              <a:ext cx="1382664" cy="369332"/>
            </a:xfrm>
            <a:prstGeom prst="rect">
              <a:avLst/>
            </a:prstGeom>
            <a:noFill/>
          </p:spPr>
          <p:txBody>
            <a:bodyPr wrap="square" rtlCol="0">
              <a:spAutoFit/>
            </a:bodyPr>
            <a:lstStyle/>
            <a:p>
              <a:r>
                <a:rPr lang="en-US" altLang="zh-CN" b="1" dirty="0"/>
                <a:t>Government</a:t>
              </a:r>
              <a:endParaRPr lang="en-US" b="1" dirty="0"/>
            </a:p>
          </p:txBody>
        </p:sp>
        <p:pic>
          <p:nvPicPr>
            <p:cNvPr id="20" name="图形 19" descr="银行 纯色填充">
              <a:extLst>
                <a:ext uri="{FF2B5EF4-FFF2-40B4-BE49-F238E27FC236}">
                  <a16:creationId xmlns:a16="http://schemas.microsoft.com/office/drawing/2014/main" id="{27C9EEE8-2B4B-44FB-B882-5F6E240782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586270" y="2591180"/>
              <a:ext cx="914400" cy="914400"/>
            </a:xfrm>
            <a:prstGeom prst="rect">
              <a:avLst/>
            </a:prstGeom>
          </p:spPr>
        </p:pic>
      </p:grpSp>
      <p:sp>
        <p:nvSpPr>
          <p:cNvPr id="22" name="箭头: 下 21">
            <a:extLst>
              <a:ext uri="{FF2B5EF4-FFF2-40B4-BE49-F238E27FC236}">
                <a16:creationId xmlns:a16="http://schemas.microsoft.com/office/drawing/2014/main" id="{DA188233-8BAB-4AB0-AB7A-067778B0E5F8}"/>
              </a:ext>
            </a:extLst>
          </p:cNvPr>
          <p:cNvSpPr/>
          <p:nvPr/>
        </p:nvSpPr>
        <p:spPr>
          <a:xfrm>
            <a:off x="8749605" y="4493414"/>
            <a:ext cx="416398" cy="8405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直角上 22">
            <a:extLst>
              <a:ext uri="{FF2B5EF4-FFF2-40B4-BE49-F238E27FC236}">
                <a16:creationId xmlns:a16="http://schemas.microsoft.com/office/drawing/2014/main" id="{B6EE6736-6933-4CF9-A35A-63F756783856}"/>
              </a:ext>
            </a:extLst>
          </p:cNvPr>
          <p:cNvSpPr/>
          <p:nvPr/>
        </p:nvSpPr>
        <p:spPr>
          <a:xfrm flipH="1">
            <a:off x="5876925" y="4855156"/>
            <a:ext cx="2299895" cy="1071029"/>
          </a:xfrm>
          <a:prstGeom prst="bentUpArrow">
            <a:avLst>
              <a:gd name="adj1" fmla="val 20175"/>
              <a:gd name="adj2" fmla="val 24384"/>
              <a:gd name="adj3" fmla="val 24203"/>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3" name="TextBox 12">
            <a:extLst>
              <a:ext uri="{FF2B5EF4-FFF2-40B4-BE49-F238E27FC236}">
                <a16:creationId xmlns:a16="http://schemas.microsoft.com/office/drawing/2014/main" id="{4DD827D0-9EE0-5CC7-B34A-968FD3FDE555}"/>
              </a:ext>
            </a:extLst>
          </p:cNvPr>
          <p:cNvSpPr txBox="1"/>
          <p:nvPr/>
        </p:nvSpPr>
        <p:spPr>
          <a:xfrm>
            <a:off x="8176820" y="4724937"/>
            <a:ext cx="1832488" cy="369332"/>
          </a:xfrm>
          <a:prstGeom prst="rect">
            <a:avLst/>
          </a:prstGeom>
          <a:noFill/>
        </p:spPr>
        <p:txBody>
          <a:bodyPr wrap="square" rtlCol="0">
            <a:spAutoFit/>
          </a:bodyPr>
          <a:lstStyle/>
          <a:p>
            <a:r>
              <a:rPr lang="zh-CN" altLang="en-US" b="1" dirty="0"/>
              <a:t>实时避难指示</a:t>
            </a:r>
            <a:endParaRPr lang="en-US" altLang="zh-CN" b="1" dirty="0"/>
          </a:p>
        </p:txBody>
      </p:sp>
      <p:sp>
        <p:nvSpPr>
          <p:cNvPr id="24" name="文本框 23">
            <a:extLst>
              <a:ext uri="{FF2B5EF4-FFF2-40B4-BE49-F238E27FC236}">
                <a16:creationId xmlns:a16="http://schemas.microsoft.com/office/drawing/2014/main" id="{2742965A-5051-4F59-8DD3-F249B756215E}"/>
              </a:ext>
            </a:extLst>
          </p:cNvPr>
          <p:cNvSpPr txBox="1"/>
          <p:nvPr/>
        </p:nvSpPr>
        <p:spPr>
          <a:xfrm>
            <a:off x="5345635" y="5975093"/>
            <a:ext cx="3185487" cy="369332"/>
          </a:xfrm>
          <a:prstGeom prst="rect">
            <a:avLst/>
          </a:prstGeom>
          <a:noFill/>
        </p:spPr>
        <p:txBody>
          <a:bodyPr wrap="none" rtlCol="0">
            <a:spAutoFit/>
          </a:bodyPr>
          <a:lstStyle/>
          <a:p>
            <a:r>
              <a:rPr lang="ja-JP" altLang="en-US" b="1" dirty="0"/>
              <a:t>新しいツイートデータを提供</a:t>
            </a:r>
            <a:endParaRPr lang="zh-CN" altLang="en-US" b="1" dirty="0"/>
          </a:p>
        </p:txBody>
      </p:sp>
      <p:sp>
        <p:nvSpPr>
          <p:cNvPr id="3" name="TextBox 2">
            <a:extLst>
              <a:ext uri="{FF2B5EF4-FFF2-40B4-BE49-F238E27FC236}">
                <a16:creationId xmlns:a16="http://schemas.microsoft.com/office/drawing/2014/main" id="{8669D449-76D5-EC54-AFEB-49C332C3FE73}"/>
              </a:ext>
            </a:extLst>
          </p:cNvPr>
          <p:cNvSpPr txBox="1"/>
          <p:nvPr/>
        </p:nvSpPr>
        <p:spPr>
          <a:xfrm>
            <a:off x="791288" y="1505068"/>
            <a:ext cx="4447051" cy="646331"/>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向政府实时发送受灾统计信息</a:t>
            </a:r>
            <a:endParaRPr lang="en-US" altLang="zh-CN" dirty="0"/>
          </a:p>
          <a:p>
            <a:pPr marL="285750" indent="-285750">
              <a:buFont typeface="Arial" panose="020B0604020202020204" pitchFamily="34" charset="0"/>
              <a:buChar char="•"/>
            </a:pPr>
            <a:r>
              <a:rPr lang="zh-CN" altLang="en-US" dirty="0"/>
              <a:t>给用户实时发布避难指示</a:t>
            </a:r>
            <a:endParaRPr lang="en-US" dirty="0"/>
          </a:p>
        </p:txBody>
      </p:sp>
      <p:sp>
        <p:nvSpPr>
          <p:cNvPr id="19" name="箭头: 直角上 22">
            <a:extLst>
              <a:ext uri="{FF2B5EF4-FFF2-40B4-BE49-F238E27FC236}">
                <a16:creationId xmlns:a16="http://schemas.microsoft.com/office/drawing/2014/main" id="{6E00ECF6-5DB1-E293-E7B3-337A317F786A}"/>
              </a:ext>
            </a:extLst>
          </p:cNvPr>
          <p:cNvSpPr/>
          <p:nvPr/>
        </p:nvSpPr>
        <p:spPr>
          <a:xfrm rot="16200000" flipH="1">
            <a:off x="9403140" y="4524547"/>
            <a:ext cx="2031326" cy="1071029"/>
          </a:xfrm>
          <a:prstGeom prst="bentUpArrow">
            <a:avLst>
              <a:gd name="adj1" fmla="val 20175"/>
              <a:gd name="adj2" fmla="val 24384"/>
              <a:gd name="adj3" fmla="val 24203"/>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8" name="文本框 17">
            <a:extLst>
              <a:ext uri="{FF2B5EF4-FFF2-40B4-BE49-F238E27FC236}">
                <a16:creationId xmlns:a16="http://schemas.microsoft.com/office/drawing/2014/main" id="{F903DCE4-88D7-48D2-B99E-53CC1F06DC61}"/>
              </a:ext>
            </a:extLst>
          </p:cNvPr>
          <p:cNvSpPr txBox="1"/>
          <p:nvPr/>
        </p:nvSpPr>
        <p:spPr>
          <a:xfrm>
            <a:off x="10156060" y="6003309"/>
            <a:ext cx="1107996" cy="369332"/>
          </a:xfrm>
          <a:prstGeom prst="rect">
            <a:avLst/>
          </a:prstGeom>
          <a:noFill/>
        </p:spPr>
        <p:txBody>
          <a:bodyPr wrap="none" rtlCol="0">
            <a:spAutoFit/>
          </a:bodyPr>
          <a:lstStyle/>
          <a:p>
            <a:r>
              <a:rPr lang="zh-CN" altLang="en-US" b="1" dirty="0">
                <a:latin typeface="Meiryo" panose="020B0604030504040204" pitchFamily="34" charset="-128"/>
                <a:ea typeface="Meiryo" panose="020B0604030504040204" pitchFamily="34" charset="-128"/>
              </a:rPr>
              <a:t>災害支援</a:t>
            </a:r>
          </a:p>
        </p:txBody>
      </p:sp>
    </p:spTree>
    <p:extLst>
      <p:ext uri="{BB962C8B-B14F-4D97-AF65-F5344CB8AC3E}">
        <p14:creationId xmlns:p14="http://schemas.microsoft.com/office/powerpoint/2010/main" val="936425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172A2-520C-1AE6-34EB-2F78BD163D38}"/>
              </a:ext>
            </a:extLst>
          </p:cNvPr>
          <p:cNvSpPr>
            <a:spLocks noGrp="1"/>
          </p:cNvSpPr>
          <p:nvPr>
            <p:ph type="title"/>
          </p:nvPr>
        </p:nvSpPr>
        <p:spPr/>
        <p:txBody>
          <a:bodyPr/>
          <a:lstStyle/>
          <a:p>
            <a:r>
              <a:rPr lang="en-US" dirty="0"/>
              <a:t>Plan</a:t>
            </a:r>
          </a:p>
        </p:txBody>
      </p:sp>
      <p:sp>
        <p:nvSpPr>
          <p:cNvPr id="4" name="Slide Number Placeholder 3">
            <a:extLst>
              <a:ext uri="{FF2B5EF4-FFF2-40B4-BE49-F238E27FC236}">
                <a16:creationId xmlns:a16="http://schemas.microsoft.com/office/drawing/2014/main" id="{A25067DE-EA73-73CA-BA9B-19E74DE2F913}"/>
              </a:ext>
            </a:extLst>
          </p:cNvPr>
          <p:cNvSpPr>
            <a:spLocks noGrp="1"/>
          </p:cNvSpPr>
          <p:nvPr>
            <p:ph type="sldNum" sz="quarter" idx="12"/>
          </p:nvPr>
        </p:nvSpPr>
        <p:spPr/>
        <p:txBody>
          <a:bodyPr/>
          <a:lstStyle/>
          <a:p>
            <a:fld id="{6732DEBC-3A3D-4A20-A97E-1DC1DBFA9CD8}" type="slidenum">
              <a:rPr kumimoji="1" lang="ja-JP" altLang="en-US" smtClean="0"/>
              <a:pPr/>
              <a:t>9</a:t>
            </a:fld>
            <a:endParaRPr kumimoji="1" lang="ja-JP" altLang="en-US" dirty="0"/>
          </a:p>
        </p:txBody>
      </p:sp>
      <p:graphicFrame>
        <p:nvGraphicFramePr>
          <p:cNvPr id="5" name="表格 25">
            <a:extLst>
              <a:ext uri="{FF2B5EF4-FFF2-40B4-BE49-F238E27FC236}">
                <a16:creationId xmlns:a16="http://schemas.microsoft.com/office/drawing/2014/main" id="{0AA3FE75-558C-613F-9EE0-43A28DF5E383}"/>
              </a:ext>
            </a:extLst>
          </p:cNvPr>
          <p:cNvGraphicFramePr>
            <a:graphicFrameLocks noGrp="1"/>
          </p:cNvGraphicFramePr>
          <p:nvPr>
            <p:ph idx="1"/>
            <p:extLst>
              <p:ext uri="{D42A27DB-BD31-4B8C-83A1-F6EECF244321}">
                <p14:modId xmlns:p14="http://schemas.microsoft.com/office/powerpoint/2010/main" val="2610863404"/>
              </p:ext>
            </p:extLst>
          </p:nvPr>
        </p:nvGraphicFramePr>
        <p:xfrm>
          <a:off x="1733550" y="1690688"/>
          <a:ext cx="8452864" cy="4455884"/>
        </p:xfrm>
        <a:graphic>
          <a:graphicData uri="http://schemas.openxmlformats.org/drawingml/2006/table">
            <a:tbl>
              <a:tblPr firstRow="1" bandRow="1">
                <a:tableStyleId>{5C22544A-7EE6-4342-B048-85BDC9FD1C3A}</a:tableStyleId>
              </a:tblPr>
              <a:tblGrid>
                <a:gridCol w="3676059">
                  <a:extLst>
                    <a:ext uri="{9D8B030D-6E8A-4147-A177-3AD203B41FA5}">
                      <a16:colId xmlns:a16="http://schemas.microsoft.com/office/drawing/2014/main" val="56266714"/>
                    </a:ext>
                  </a:extLst>
                </a:gridCol>
                <a:gridCol w="2316234">
                  <a:extLst>
                    <a:ext uri="{9D8B030D-6E8A-4147-A177-3AD203B41FA5}">
                      <a16:colId xmlns:a16="http://schemas.microsoft.com/office/drawing/2014/main" val="2402010049"/>
                    </a:ext>
                  </a:extLst>
                </a:gridCol>
                <a:gridCol w="2460571">
                  <a:extLst>
                    <a:ext uri="{9D8B030D-6E8A-4147-A177-3AD203B41FA5}">
                      <a16:colId xmlns:a16="http://schemas.microsoft.com/office/drawing/2014/main" val="3653826546"/>
                    </a:ext>
                  </a:extLst>
                </a:gridCol>
              </a:tblGrid>
              <a:tr h="453068">
                <a:tc>
                  <a:txBody>
                    <a:bodyPr/>
                    <a:lstStyle/>
                    <a:p>
                      <a:r>
                        <a:rPr lang="ja-JP" altLang="en-US" b="0" i="0" dirty="0">
                          <a:ea typeface="Meiryo" panose="020B0604030504040204" pitchFamily="34" charset="-128"/>
                        </a:rPr>
                        <a:t>研究内容／スケジュール</a:t>
                      </a:r>
                      <a:endParaRPr lang="en-US" dirty="0"/>
                    </a:p>
                  </a:txBody>
                  <a:tcPr/>
                </a:tc>
                <a:tc>
                  <a:txBody>
                    <a:bodyPr/>
                    <a:lstStyle/>
                    <a:p>
                      <a:r>
                        <a:rPr lang="ja-JP" altLang="en-US" b="0" i="0" dirty="0">
                          <a:ea typeface="Meiryo" panose="020B0604030504040204" pitchFamily="34" charset="-128"/>
                        </a:rPr>
                        <a:t>一年目</a:t>
                      </a:r>
                      <a:endParaRPr lang="en-US" dirty="0"/>
                    </a:p>
                  </a:txBody>
                  <a:tcPr/>
                </a:tc>
                <a:tc>
                  <a:txBody>
                    <a:bodyPr/>
                    <a:lstStyle/>
                    <a:p>
                      <a:r>
                        <a:rPr lang="ja-JP" altLang="en-US" b="0" i="0" dirty="0">
                          <a:ea typeface="Meiryo" panose="020B0604030504040204" pitchFamily="34" charset="-128"/>
                        </a:rPr>
                        <a:t>二年目</a:t>
                      </a:r>
                      <a:endParaRPr lang="en-US" dirty="0"/>
                    </a:p>
                  </a:txBody>
                  <a:tcPr/>
                </a:tc>
                <a:extLst>
                  <a:ext uri="{0D108BD9-81ED-4DB2-BD59-A6C34878D82A}">
                    <a16:rowId xmlns:a16="http://schemas.microsoft.com/office/drawing/2014/main" val="3426502799"/>
                  </a:ext>
                </a:extLst>
              </a:tr>
              <a:tr h="817973">
                <a:tc>
                  <a:txBody>
                    <a:bodyPr/>
                    <a:lstStyle/>
                    <a:p>
                      <a:pPr marL="0" algn="l" defTabSz="457200" rtl="0" eaLnBrk="1" latinLnBrk="0" hangingPunct="1"/>
                      <a:r>
                        <a:rPr lang="ja-JP" altLang="en-US" sz="1600" dirty="0"/>
                        <a:t>先行研究およびデータ収集</a:t>
                      </a:r>
                      <a:endParaRPr lang="en-US" sz="1600" kern="1200" dirty="0">
                        <a:solidFill>
                          <a:schemeClr val="dk1"/>
                        </a:solidFill>
                        <a:latin typeface="Meiryo" panose="020B0604030504040204" pitchFamily="34" charset="-128"/>
                        <a:ea typeface="Meiryo" panose="020B0604030504040204" pitchFamily="34" charset="-128"/>
                        <a:cs typeface="+mn-cs"/>
                      </a:endParaRP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3207650240"/>
                  </a:ext>
                </a:extLst>
              </a:tr>
              <a:tr h="694919">
                <a:tc>
                  <a:txBody>
                    <a:bodyPr/>
                    <a:lstStyle/>
                    <a:p>
                      <a:r>
                        <a:rPr lang="ja-JP" altLang="en-US" sz="1600" dirty="0"/>
                        <a:t>データの前処理と分類</a:t>
                      </a:r>
                      <a:endParaRPr lang="en-US" sz="1600" dirty="0">
                        <a:latin typeface="Meiryo" panose="020B0604030504040204" pitchFamily="34" charset="-128"/>
                        <a:ea typeface="Meiryo" panose="020B0604030504040204" pitchFamily="34" charset="-128"/>
                      </a:endParaRP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709283723"/>
                  </a:ext>
                </a:extLst>
              </a:tr>
              <a:tr h="618164">
                <a:tc>
                  <a:txBody>
                    <a:bodyPr/>
                    <a:lstStyle/>
                    <a:p>
                      <a:r>
                        <a:rPr lang="ja-JP" altLang="en-US" sz="1600" dirty="0"/>
                        <a:t>分類後のデータを定量的に分析</a:t>
                      </a:r>
                      <a:endParaRPr lang="en-US" sz="1600" kern="1200" dirty="0">
                        <a:solidFill>
                          <a:schemeClr val="dk1"/>
                        </a:solidFill>
                        <a:latin typeface="Meiryo" panose="020B0604030504040204" pitchFamily="34" charset="-128"/>
                        <a:ea typeface="Meiryo" panose="020B0604030504040204" pitchFamily="34" charset="-128"/>
                        <a:cs typeface="+mn-cs"/>
                      </a:endParaRP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3142937048"/>
                  </a:ext>
                </a:extLst>
              </a:tr>
              <a:tr h="623920">
                <a:tc>
                  <a:txBody>
                    <a:bodyPr/>
                    <a:lstStyle/>
                    <a:p>
                      <a:r>
                        <a:rPr lang="ja-JP" altLang="en-US" sz="1600" dirty="0"/>
                        <a:t>政府公式報告書を調査するとともに、地理・人口情報を取得する。</a:t>
                      </a:r>
                      <a:endParaRPr lang="en-US" altLang="ja-JP" sz="1600" kern="1200" dirty="0">
                        <a:solidFill>
                          <a:schemeClr val="dk1"/>
                        </a:solidFill>
                        <a:latin typeface="Meiryo" panose="020B0604030504040204" pitchFamily="34" charset="-128"/>
                        <a:ea typeface="Meiryo" panose="020B0604030504040204" pitchFamily="34" charset="-128"/>
                        <a:cs typeface="+mn-cs"/>
                      </a:endParaRP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237657015"/>
                  </a:ext>
                </a:extLst>
              </a:tr>
              <a:tr h="6239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sz="1600" dirty="0"/>
                        <a:t>報告書の生成・結果評価</a:t>
                      </a:r>
                    </a:p>
                    <a:p>
                      <a:pPr marL="0" algn="l" defTabSz="457200" rtl="0" eaLnBrk="1" latinLnBrk="0" hangingPunct="1"/>
                      <a:endParaRPr lang="en-US" sz="1600" kern="1200" dirty="0">
                        <a:solidFill>
                          <a:schemeClr val="dk1"/>
                        </a:solidFill>
                        <a:latin typeface="Meiryo" panose="020B0604030504040204" pitchFamily="34" charset="-128"/>
                        <a:ea typeface="Meiryo" panose="020B0604030504040204" pitchFamily="34" charset="-128"/>
                        <a:cs typeface="+mn-cs"/>
                      </a:endParaRPr>
                    </a:p>
                  </a:txBody>
                  <a:tcPr/>
                </a:tc>
                <a:tc>
                  <a:txBody>
                    <a:bodyPr/>
                    <a:lstStyle/>
                    <a:p>
                      <a:pPr marL="0" algn="l" defTabSz="457200" rtl="0" eaLnBrk="1" latinLnBrk="0" hangingPunct="1"/>
                      <a:endParaRPr lang="en-US" sz="1600" kern="1200" dirty="0">
                        <a:solidFill>
                          <a:schemeClr val="dk1"/>
                        </a:solidFill>
                        <a:latin typeface="Meiryo" panose="020B0604030504040204" pitchFamily="34" charset="-128"/>
                        <a:ea typeface="Meiryo" panose="020B0604030504040204" pitchFamily="34" charset="-128"/>
                        <a:cs typeface="+mn-cs"/>
                      </a:endParaRPr>
                    </a:p>
                  </a:txBody>
                  <a:tcPr/>
                </a:tc>
                <a:tc>
                  <a:txBody>
                    <a:bodyPr/>
                    <a:lstStyle/>
                    <a:p>
                      <a:pPr marL="0" algn="l" defTabSz="457200" rtl="0" eaLnBrk="1" latinLnBrk="0" hangingPunct="1"/>
                      <a:endParaRPr lang="en-US" sz="1600" kern="1200" dirty="0">
                        <a:solidFill>
                          <a:schemeClr val="dk1"/>
                        </a:solidFill>
                        <a:latin typeface="Meiryo" panose="020B0604030504040204" pitchFamily="34" charset="-128"/>
                        <a:ea typeface="Meiryo" panose="020B0604030504040204" pitchFamily="34" charset="-128"/>
                        <a:cs typeface="+mn-cs"/>
                      </a:endParaRPr>
                    </a:p>
                  </a:txBody>
                  <a:tcPr/>
                </a:tc>
                <a:extLst>
                  <a:ext uri="{0D108BD9-81ED-4DB2-BD59-A6C34878D82A}">
                    <a16:rowId xmlns:a16="http://schemas.microsoft.com/office/drawing/2014/main" val="2593576000"/>
                  </a:ext>
                </a:extLst>
              </a:tr>
              <a:tr h="623920">
                <a:tc>
                  <a:txBody>
                    <a:bodyPr/>
                    <a:lstStyle/>
                    <a:p>
                      <a:pPr marL="0" algn="l" defTabSz="457200" rtl="0" eaLnBrk="1" latinLnBrk="0" hangingPunct="1"/>
                      <a:endParaRPr lang="en-US" sz="1600" kern="1200" dirty="0">
                        <a:solidFill>
                          <a:schemeClr val="dk1"/>
                        </a:solidFill>
                        <a:latin typeface="Meiryo" panose="020B0604030504040204" pitchFamily="34" charset="-128"/>
                        <a:ea typeface="Meiryo" panose="020B0604030504040204" pitchFamily="34" charset="-128"/>
                        <a:cs typeface="+mn-cs"/>
                      </a:endParaRPr>
                    </a:p>
                  </a:txBody>
                  <a:tcPr/>
                </a:tc>
                <a:tc>
                  <a:txBody>
                    <a:bodyPr/>
                    <a:lstStyle/>
                    <a:p>
                      <a:pPr marL="0" algn="l" defTabSz="457200" rtl="0" eaLnBrk="1" latinLnBrk="0" hangingPunct="1"/>
                      <a:endParaRPr lang="en-US" sz="1600" kern="1200" dirty="0">
                        <a:solidFill>
                          <a:schemeClr val="dk1"/>
                        </a:solidFill>
                        <a:latin typeface="Meiryo" panose="020B0604030504040204" pitchFamily="34" charset="-128"/>
                        <a:ea typeface="Meiryo" panose="020B0604030504040204" pitchFamily="34" charset="-128"/>
                        <a:cs typeface="+mn-cs"/>
                      </a:endParaRPr>
                    </a:p>
                  </a:txBody>
                  <a:tcPr/>
                </a:tc>
                <a:tc>
                  <a:txBody>
                    <a:bodyPr/>
                    <a:lstStyle/>
                    <a:p>
                      <a:pPr marL="0" algn="l" defTabSz="457200" rtl="0" eaLnBrk="1" latinLnBrk="0" hangingPunct="1"/>
                      <a:endParaRPr lang="en-US" sz="1600" kern="1200" dirty="0">
                        <a:solidFill>
                          <a:schemeClr val="dk1"/>
                        </a:solidFill>
                        <a:latin typeface="Meiryo" panose="020B0604030504040204" pitchFamily="34" charset="-128"/>
                        <a:ea typeface="Meiryo" panose="020B0604030504040204" pitchFamily="34" charset="-128"/>
                        <a:cs typeface="+mn-cs"/>
                      </a:endParaRPr>
                    </a:p>
                  </a:txBody>
                  <a:tcPr/>
                </a:tc>
                <a:extLst>
                  <a:ext uri="{0D108BD9-81ED-4DB2-BD59-A6C34878D82A}">
                    <a16:rowId xmlns:a16="http://schemas.microsoft.com/office/drawing/2014/main" val="4092279458"/>
                  </a:ext>
                </a:extLst>
              </a:tr>
            </a:tbl>
          </a:graphicData>
        </a:graphic>
      </p:graphicFrame>
      <p:sp>
        <p:nvSpPr>
          <p:cNvPr id="3" name="Arrow: Left-Right 2">
            <a:extLst>
              <a:ext uri="{FF2B5EF4-FFF2-40B4-BE49-F238E27FC236}">
                <a16:creationId xmlns:a16="http://schemas.microsoft.com/office/drawing/2014/main" id="{C3021AA8-2B1C-7177-3469-064DFBEBEB8F}"/>
              </a:ext>
            </a:extLst>
          </p:cNvPr>
          <p:cNvSpPr/>
          <p:nvPr/>
        </p:nvSpPr>
        <p:spPr>
          <a:xfrm>
            <a:off x="6466114" y="2215431"/>
            <a:ext cx="740229" cy="23854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Left-Right 5">
            <a:extLst>
              <a:ext uri="{FF2B5EF4-FFF2-40B4-BE49-F238E27FC236}">
                <a16:creationId xmlns:a16="http://schemas.microsoft.com/office/drawing/2014/main" id="{BB7B1269-BAA4-F403-5C42-57FF2C28C40F}"/>
              </a:ext>
            </a:extLst>
          </p:cNvPr>
          <p:cNvSpPr/>
          <p:nvPr/>
        </p:nvSpPr>
        <p:spPr>
          <a:xfrm>
            <a:off x="6465327" y="3016251"/>
            <a:ext cx="740229" cy="23854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518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48869-6103-6A57-2990-21552C393FF1}"/>
              </a:ext>
            </a:extLst>
          </p:cNvPr>
          <p:cNvSpPr>
            <a:spLocks noGrp="1"/>
          </p:cNvSpPr>
          <p:nvPr>
            <p:ph type="title"/>
          </p:nvPr>
        </p:nvSpPr>
        <p:spPr/>
        <p:txBody>
          <a:bodyPr/>
          <a:lstStyle/>
          <a:p>
            <a:r>
              <a:rPr lang="ja-JP" altLang="en-US" dirty="0"/>
              <a:t>まとめ</a:t>
            </a:r>
            <a:br>
              <a:rPr lang="en-US" altLang="ja-JP" dirty="0"/>
            </a:br>
            <a:endParaRPr lang="en-US" dirty="0"/>
          </a:p>
        </p:txBody>
      </p:sp>
      <p:sp>
        <p:nvSpPr>
          <p:cNvPr id="3" name="Content Placeholder 2">
            <a:extLst>
              <a:ext uri="{FF2B5EF4-FFF2-40B4-BE49-F238E27FC236}">
                <a16:creationId xmlns:a16="http://schemas.microsoft.com/office/drawing/2014/main" id="{A8F24757-0E9E-0E7D-35B3-8B28EBC40529}"/>
              </a:ext>
            </a:extLst>
          </p:cNvPr>
          <p:cNvSpPr>
            <a:spLocks noGrp="1"/>
          </p:cNvSpPr>
          <p:nvPr>
            <p:ph idx="1"/>
          </p:nvPr>
        </p:nvSpPr>
        <p:spPr/>
        <p:txBody>
          <a:bodyPr/>
          <a:lstStyle/>
          <a:p>
            <a:r>
              <a:rPr lang="zh-CN" altLang="en-US" dirty="0"/>
              <a:t>一句话总结自己研究什么</a:t>
            </a:r>
            <a:endParaRPr lang="en-US" altLang="zh-CN" dirty="0"/>
          </a:p>
          <a:p>
            <a:pPr lvl="1"/>
            <a:r>
              <a:rPr lang="zh-CN" altLang="en-US" dirty="0"/>
              <a:t>解决</a:t>
            </a:r>
            <a:r>
              <a:rPr lang="en-US" altLang="zh-CN" dirty="0"/>
              <a:t>xxx</a:t>
            </a:r>
            <a:r>
              <a:rPr lang="zh-CN" altLang="en-US" dirty="0"/>
              <a:t>问题</a:t>
            </a:r>
            <a:endParaRPr lang="en-US" altLang="zh-CN" dirty="0"/>
          </a:p>
          <a:p>
            <a:pPr lvl="1"/>
            <a:r>
              <a:rPr lang="zh-CN" altLang="en-US" dirty="0"/>
              <a:t>解决</a:t>
            </a:r>
            <a:r>
              <a:rPr lang="en-US" altLang="zh-CN" dirty="0" err="1"/>
              <a:t>yyy</a:t>
            </a:r>
            <a:r>
              <a:rPr lang="zh-CN" altLang="en-US" dirty="0"/>
              <a:t>问题</a:t>
            </a:r>
            <a:endParaRPr lang="en-US" altLang="zh-CN" dirty="0"/>
          </a:p>
          <a:p>
            <a:pPr marL="0" indent="0">
              <a:buNone/>
            </a:pPr>
            <a:endParaRPr lang="en-US" altLang="ja-JP" dirty="0"/>
          </a:p>
          <a:p>
            <a:pPr marL="0" indent="0">
              <a:buNone/>
            </a:pPr>
            <a:r>
              <a:rPr lang="zh-CN" altLang="en-US" dirty="0"/>
              <a:t>今后课题</a:t>
            </a:r>
            <a:endParaRPr lang="en-US" altLang="ja-JP" dirty="0"/>
          </a:p>
          <a:p>
            <a:pPr marL="0" indent="0">
              <a:buNone/>
            </a:pPr>
            <a:br>
              <a:rPr lang="en-US" altLang="ja-JP" dirty="0"/>
            </a:br>
            <a:endParaRPr lang="en-US" dirty="0"/>
          </a:p>
        </p:txBody>
      </p:sp>
      <p:sp>
        <p:nvSpPr>
          <p:cNvPr id="4" name="Slide Number Placeholder 3">
            <a:extLst>
              <a:ext uri="{FF2B5EF4-FFF2-40B4-BE49-F238E27FC236}">
                <a16:creationId xmlns:a16="http://schemas.microsoft.com/office/drawing/2014/main" id="{6DF65079-3377-2B9A-D4E8-E4F1A3A6E228}"/>
              </a:ext>
            </a:extLst>
          </p:cNvPr>
          <p:cNvSpPr>
            <a:spLocks noGrp="1"/>
          </p:cNvSpPr>
          <p:nvPr>
            <p:ph type="sldNum" sz="quarter" idx="12"/>
          </p:nvPr>
        </p:nvSpPr>
        <p:spPr/>
        <p:txBody>
          <a:bodyPr/>
          <a:lstStyle/>
          <a:p>
            <a:fld id="{6732DEBC-3A3D-4A20-A97E-1DC1DBFA9CD8}" type="slidenum">
              <a:rPr kumimoji="1" lang="ja-JP" altLang="en-US" smtClean="0"/>
              <a:pPr/>
              <a:t>10</a:t>
            </a:fld>
            <a:endParaRPr kumimoji="1" lang="ja-JP" altLang="en-US" dirty="0"/>
          </a:p>
        </p:txBody>
      </p:sp>
    </p:spTree>
    <p:extLst>
      <p:ext uri="{BB962C8B-B14F-4D97-AF65-F5344CB8AC3E}">
        <p14:creationId xmlns:p14="http://schemas.microsoft.com/office/powerpoint/2010/main" val="796123096"/>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21318</TotalTime>
  <Words>1984</Words>
  <Application>Microsoft Macintosh PowerPoint</Application>
  <PresentationFormat>Widescreen</PresentationFormat>
  <Paragraphs>154</Paragraphs>
  <Slides>10</Slides>
  <Notes>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Meiryo</vt:lpstr>
      <vt:lpstr>游ゴシック</vt:lpstr>
      <vt:lpstr>Arial</vt:lpstr>
      <vt:lpstr>Calibri</vt:lpstr>
      <vt:lpstr>Calibri Light</vt:lpstr>
      <vt:lpstr>Cambria Math</vt:lpstr>
      <vt:lpstr>Wingdings 2</vt:lpstr>
      <vt:lpstr>HDOfficeLightV0</vt:lpstr>
      <vt:lpstr>Office Theme</vt:lpstr>
      <vt:lpstr>ソーシャルメディア避難言論数と実際の避難人数のクロス災害分析 ～地震災害の例として</vt:lpstr>
      <vt:lpstr>Background</vt:lpstr>
      <vt:lpstr>先行研究</vt:lpstr>
      <vt:lpstr>先行研究</vt:lpstr>
      <vt:lpstr>Goal &amp; Challenge</vt:lpstr>
      <vt:lpstr>Method</vt:lpstr>
      <vt:lpstr>テキスト分類器</vt:lpstr>
      <vt:lpstr>Application</vt:lpstr>
      <vt:lpstr>Plan</vt:lpstr>
      <vt:lpstr>まとめ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頂点最適化による実植物の構造の時空間トラッキング(仮)</dc:title>
  <dc:creator>ryohei_m</dc:creator>
  <cp:lastModifiedBy>YANG YANG</cp:lastModifiedBy>
  <cp:revision>585</cp:revision>
  <cp:lastPrinted>2023-02-06T02:12:16Z</cp:lastPrinted>
  <dcterms:created xsi:type="dcterms:W3CDTF">2023-01-04T05:56:43Z</dcterms:created>
  <dcterms:modified xsi:type="dcterms:W3CDTF">2026-01-09T09:54:19Z</dcterms:modified>
</cp:coreProperties>
</file>